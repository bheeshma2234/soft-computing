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Fragment Mono"/>
      <p:regular r:id="rId201314"/>
    </p:embeddedFont>
    <p:embeddedFont>
      <p:font typeface="Inter Tight"/>
      <p:regular r:id="rId201315"/>
    </p:embeddedFont>
    <p:embeddedFont>
      <p:font typeface="Inter Tight SemiBold"/>
      <p:regular r:id="rId201316"/>
    </p:embeddedFont>
    <p:embeddedFont>
      <p:font typeface="Inter Tight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is justified by this chain: prune channels with a GA search, then recover accuracy by distilling the teacher into the smaller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goal first: a smaller CNN that keeps its accuracy. Then walk the four areas: parameters, MACs and FLOPs, accuracy via Knowledge Distillation, and latency measured on the same hardware. Close on the success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Compression targets deployment cost. Remind the audience that fewer FLOPs do not guarantee lower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CIFAR-10 has 60,000 colour images of 32×32 pixels in 10 classes. The split is 45,000 for training, 5,000 for validation and 10,000 for testing. The same dataset trains the teacher, evaluates the pruned student, and supports the accuracy and efficiency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GA and KD explanations short; the detail follows on the implementation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GA-pruned student keeps the teacher’s training recipe but removes channels in conv1 and conv3; conv2 is left unpruned.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accuracy-versus-size trade-off, then state plainly that latency got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future list is proposed work,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A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AFAFA"/>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AFA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88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3.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33387" y="609600"/>
            <a:ext cx="7238819" cy="5638800"/>
          </a:xfrm>
          <a:prstGeom prst="rect">
            <a:avLst/>
          </a:prstGeom>
          <a:solidFill>
            <a:srgbClr val="FFFFFF"/>
          </a:solidFill>
          <a:ln/>
        </p:spPr>
      </p:sp>
      <p:sp>
        <p:nvSpPr>
          <p:cNvPr id="3" name="Text 1"/>
          <p:cNvSpPr/>
          <p:nvPr/>
        </p:nvSpPr>
        <p:spPr>
          <a:xfrm>
            <a:off x="990575" y="1929190"/>
            <a:ext cx="6934027"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0"/>
              </a:rPr>
              <a:t>SOFT COMPUTING</a:t>
            </a:r>
            <a:endParaRPr lang="en-US" sz="1300" dirty="0"/>
          </a:p>
        </p:txBody>
      </p:sp>
      <p:sp>
        <p:nvSpPr>
          <p:cNvPr id="4" name="Text 2"/>
          <p:cNvSpPr/>
          <p:nvPr/>
        </p:nvSpPr>
        <p:spPr>
          <a:xfrm>
            <a:off x="990575" y="2258993"/>
            <a:ext cx="6324442" cy="1524000"/>
          </a:xfrm>
          <a:prstGeom prst="rect">
            <a:avLst/>
          </a:prstGeom>
          <a:noFill/>
          <a:ln/>
        </p:spPr>
        <p:txBody>
          <a:bodyPr wrap="square" lIns="0" tIns="0" rIns="0" bIns="0" rtlCol="0" anchor="t">
            <a:normAutofit/>
          </a:bodyPr>
          <a:lstStyle/>
          <a:p>
            <a:pPr algn="l" indent="0" marL="0">
              <a:lnSpc>
                <a:spcPct val="83000"/>
              </a:lnSpc>
              <a:buNone/>
            </a:pPr>
            <a:r>
              <a:rPr lang="en-US" sz="4000" spc="-140" kern="100" dirty="0">
                <a:solidFill>
                  <a:srgbClr val="000000"/>
                </a:solidFill>
                <a:latin typeface="Inter Tight SemiBold" pitchFamily="34" charset="0"/>
                <a:ea typeface="Inter Tight SemiBold" pitchFamily="34" charset="-122"/>
                <a:cs typeface="Inter Tight SemiBold" pitchFamily="34" charset="0"/>
              </a:rPr>
              <a:t>CNN Pruning Using Genetic Algorithms and Knowledge Distillation</a:t>
            </a:r>
            <a:endParaRPr lang="en-US" sz="4000" dirty="0"/>
          </a:p>
        </p:txBody>
      </p:sp>
      <p:sp>
        <p:nvSpPr>
          <p:cNvPr id="5" name="Text 3"/>
          <p:cNvSpPr/>
          <p:nvPr/>
        </p:nvSpPr>
        <p:spPr>
          <a:xfrm>
            <a:off x="990575" y="3953331"/>
            <a:ext cx="6324442" cy="582811"/>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000000"/>
                </a:solidFill>
                <a:latin typeface="Inter Tight" pitchFamily="34" charset="0"/>
                <a:ea typeface="Inter Tight" pitchFamily="34" charset="-122"/>
                <a:cs typeface="Inter Tight" pitchFamily="34" charset="0"/>
              </a:rPr>
              <a:t>Department of CSE (Artificial Intelligence and Machine Learning) · Chaitanya Bharathi Institute of Technology (CBIT), Hyderabad</a:t>
            </a:r>
            <a:endParaRPr lang="en-US" sz="1700" dirty="0"/>
          </a:p>
        </p:txBody>
      </p:sp>
      <p:sp>
        <p:nvSpPr>
          <p:cNvPr id="6" name="Text 4"/>
          <p:cNvSpPr/>
          <p:nvPr/>
        </p:nvSpPr>
        <p:spPr>
          <a:xfrm>
            <a:off x="990575" y="4725214"/>
            <a:ext cx="6934027"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BHEESHMA SHANKAR A · 160124748093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8786" y="388620"/>
            <a:ext cx="116329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0"/>
              </a:rPr>
              <a:t>02 / JUSTIFICATION OF THE TITLE</a:t>
            </a:r>
            <a:endParaRPr lang="en-US" sz="1300" dirty="0"/>
          </a:p>
        </p:txBody>
      </p:sp>
      <p:sp>
        <p:nvSpPr>
          <p:cNvPr id="3" name="Text 1"/>
          <p:cNvSpPr/>
          <p:nvPr/>
        </p:nvSpPr>
        <p:spPr>
          <a:xfrm>
            <a:off x="558786" y="709660"/>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CNNs are accurate but costly, so we compress them</a:t>
            </a:r>
            <a:endParaRPr lang="en-US" sz="3400" dirty="0"/>
          </a:p>
        </p:txBody>
      </p:sp>
      <p:sp>
        <p:nvSpPr>
          <p:cNvPr id="4" name="Shape 2"/>
          <p:cNvSpPr/>
          <p:nvPr/>
        </p:nvSpPr>
        <p:spPr>
          <a:xfrm>
            <a:off x="558786" y="1312466"/>
            <a:ext cx="2539936" cy="2669282"/>
          </a:xfrm>
          <a:prstGeom prst="roundRect">
            <a:avLst>
              <a:gd name="adj" fmla="val 450"/>
            </a:avLst>
          </a:prstGeom>
          <a:solidFill>
            <a:srgbClr val="A186F3"/>
          </a:solidFill>
          <a:ln/>
        </p:spPr>
      </p:sp>
      <p:sp>
        <p:nvSpPr>
          <p:cNvPr id="5" name="Shape 3"/>
          <p:cNvSpPr/>
          <p:nvPr/>
        </p:nvSpPr>
        <p:spPr>
          <a:xfrm>
            <a:off x="787380" y="1541066"/>
            <a:ext cx="1029964" cy="336649"/>
          </a:xfrm>
          <a:prstGeom prst="roundRect">
            <a:avLst>
              <a:gd name="adj" fmla="val 3395"/>
            </a:avLst>
          </a:prstGeom>
          <a:solidFill>
            <a:srgbClr val="DBD1FA"/>
          </a:solidFill>
          <a:ln/>
        </p:spPr>
      </p:sp>
      <p:sp>
        <p:nvSpPr>
          <p:cNvPr id="6" name="Text 4"/>
          <p:cNvSpPr/>
          <p:nvPr/>
        </p:nvSpPr>
        <p:spPr>
          <a:xfrm>
            <a:off x="916858" y="1611090"/>
            <a:ext cx="138059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1A1A1A"/>
                </a:solidFill>
                <a:latin typeface="Fragment Mono" pitchFamily="34" charset="0"/>
                <a:ea typeface="Fragment Mono" pitchFamily="34" charset="-122"/>
                <a:cs typeface="Fragment Mono" pitchFamily="34" charset="0"/>
              </a:rPr>
              <a:t>PROBLEM</a:t>
            </a:r>
            <a:endParaRPr lang="en-US" sz="1350" dirty="0"/>
          </a:p>
        </p:txBody>
      </p:sp>
      <p:sp>
        <p:nvSpPr>
          <p:cNvPr id="7" name="Text 5"/>
          <p:cNvSpPr/>
          <p:nvPr/>
        </p:nvSpPr>
        <p:spPr>
          <a:xfrm>
            <a:off x="787380" y="2012811"/>
            <a:ext cx="2082748" cy="874216"/>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0"/>
              </a:rPr>
              <a:t>CNNs require substantial memory and computation.</a:t>
            </a:r>
            <a:endParaRPr lang="en-US" sz="1700" dirty="0"/>
          </a:p>
        </p:txBody>
      </p:sp>
      <p:sp>
        <p:nvSpPr>
          <p:cNvPr id="8" name="Shape 6"/>
          <p:cNvSpPr/>
          <p:nvPr/>
        </p:nvSpPr>
        <p:spPr>
          <a:xfrm>
            <a:off x="3403515" y="1312466"/>
            <a:ext cx="2539936" cy="2669282"/>
          </a:xfrm>
          <a:prstGeom prst="roundRect">
            <a:avLst>
              <a:gd name="adj" fmla="val 450"/>
            </a:avLst>
          </a:prstGeom>
          <a:solidFill>
            <a:srgbClr val="A186F3"/>
          </a:solidFill>
          <a:ln/>
        </p:spPr>
      </p:sp>
      <p:sp>
        <p:nvSpPr>
          <p:cNvPr id="9" name="Shape 7"/>
          <p:cNvSpPr/>
          <p:nvPr/>
        </p:nvSpPr>
        <p:spPr>
          <a:xfrm>
            <a:off x="3632109" y="1541066"/>
            <a:ext cx="1029964" cy="336649"/>
          </a:xfrm>
          <a:prstGeom prst="roundRect">
            <a:avLst>
              <a:gd name="adj" fmla="val 3395"/>
            </a:avLst>
          </a:prstGeom>
          <a:solidFill>
            <a:srgbClr val="DBD1FA"/>
          </a:solidFill>
          <a:ln/>
        </p:spPr>
      </p:sp>
      <p:sp>
        <p:nvSpPr>
          <p:cNvPr id="10" name="Text 8"/>
          <p:cNvSpPr/>
          <p:nvPr/>
        </p:nvSpPr>
        <p:spPr>
          <a:xfrm>
            <a:off x="3761586" y="1611090"/>
            <a:ext cx="138059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1A1A1A"/>
                </a:solidFill>
                <a:latin typeface="Fragment Mono" pitchFamily="34" charset="0"/>
                <a:ea typeface="Fragment Mono" pitchFamily="34" charset="-122"/>
                <a:cs typeface="Fragment Mono" pitchFamily="34" charset="0"/>
              </a:rPr>
              <a:t>PRUNING</a:t>
            </a:r>
            <a:endParaRPr lang="en-US" sz="1350" dirty="0"/>
          </a:p>
        </p:txBody>
      </p:sp>
      <p:sp>
        <p:nvSpPr>
          <p:cNvPr id="11" name="Text 9"/>
          <p:cNvSpPr/>
          <p:nvPr/>
        </p:nvSpPr>
        <p:spPr>
          <a:xfrm>
            <a:off x="3632109" y="2012811"/>
            <a:ext cx="2082748" cy="874216"/>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0"/>
              </a:rPr>
              <a:t>Structured pruning removes selected channels.</a:t>
            </a:r>
            <a:endParaRPr lang="en-US" sz="1700" dirty="0"/>
          </a:p>
        </p:txBody>
      </p:sp>
      <p:sp>
        <p:nvSpPr>
          <p:cNvPr id="12" name="Shape 10"/>
          <p:cNvSpPr/>
          <p:nvPr/>
        </p:nvSpPr>
        <p:spPr>
          <a:xfrm>
            <a:off x="6248244" y="1312466"/>
            <a:ext cx="2539936" cy="2669282"/>
          </a:xfrm>
          <a:prstGeom prst="roundRect">
            <a:avLst>
              <a:gd name="adj" fmla="val 450"/>
            </a:avLst>
          </a:prstGeom>
          <a:solidFill>
            <a:srgbClr val="A186F3"/>
          </a:solidFill>
          <a:ln/>
        </p:spPr>
      </p:sp>
      <p:sp>
        <p:nvSpPr>
          <p:cNvPr id="13" name="Shape 11"/>
          <p:cNvSpPr/>
          <p:nvPr/>
        </p:nvSpPr>
        <p:spPr>
          <a:xfrm>
            <a:off x="6476838" y="1541066"/>
            <a:ext cx="919834" cy="336649"/>
          </a:xfrm>
          <a:prstGeom prst="roundRect">
            <a:avLst>
              <a:gd name="adj" fmla="val 3395"/>
            </a:avLst>
          </a:prstGeom>
          <a:solidFill>
            <a:srgbClr val="DBD1FA"/>
          </a:solidFill>
          <a:ln/>
        </p:spPr>
      </p:sp>
      <p:sp>
        <p:nvSpPr>
          <p:cNvPr id="14" name="Text 12"/>
          <p:cNvSpPr/>
          <p:nvPr/>
        </p:nvSpPr>
        <p:spPr>
          <a:xfrm>
            <a:off x="6606315" y="1611090"/>
            <a:ext cx="127046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1A1A1A"/>
                </a:solidFill>
                <a:latin typeface="Fragment Mono" pitchFamily="34" charset="0"/>
                <a:ea typeface="Fragment Mono" pitchFamily="34" charset="-122"/>
                <a:cs typeface="Fragment Mono" pitchFamily="34" charset="0"/>
              </a:rPr>
              <a:t>SEARCH</a:t>
            </a:r>
            <a:endParaRPr lang="en-US" sz="1350" dirty="0"/>
          </a:p>
        </p:txBody>
      </p:sp>
      <p:sp>
        <p:nvSpPr>
          <p:cNvPr id="15" name="Text 13"/>
          <p:cNvSpPr/>
          <p:nvPr/>
        </p:nvSpPr>
        <p:spPr>
          <a:xfrm>
            <a:off x="6476838" y="2012811"/>
            <a:ext cx="2082748" cy="1165622"/>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0"/>
              </a:rPr>
              <a:t>Genetic Algorithms search for channel-pruning configurations.</a:t>
            </a:r>
            <a:endParaRPr lang="en-US" sz="1700" dirty="0"/>
          </a:p>
        </p:txBody>
      </p:sp>
      <p:sp>
        <p:nvSpPr>
          <p:cNvPr id="16" name="Shape 14"/>
          <p:cNvSpPr/>
          <p:nvPr/>
        </p:nvSpPr>
        <p:spPr>
          <a:xfrm>
            <a:off x="9092973" y="1312466"/>
            <a:ext cx="2539936" cy="2669282"/>
          </a:xfrm>
          <a:prstGeom prst="roundRect">
            <a:avLst>
              <a:gd name="adj" fmla="val 450"/>
            </a:avLst>
          </a:prstGeom>
          <a:solidFill>
            <a:srgbClr val="A186F3"/>
          </a:solidFill>
          <a:ln/>
        </p:spPr>
      </p:sp>
      <p:sp>
        <p:nvSpPr>
          <p:cNvPr id="17" name="Shape 15"/>
          <p:cNvSpPr/>
          <p:nvPr/>
        </p:nvSpPr>
        <p:spPr>
          <a:xfrm>
            <a:off x="9321567" y="1541066"/>
            <a:ext cx="1580714" cy="336649"/>
          </a:xfrm>
          <a:prstGeom prst="roundRect">
            <a:avLst>
              <a:gd name="adj" fmla="val 3395"/>
            </a:avLst>
          </a:prstGeom>
          <a:solidFill>
            <a:srgbClr val="DBD1FA"/>
          </a:solidFill>
          <a:ln/>
        </p:spPr>
      </p:sp>
      <p:sp>
        <p:nvSpPr>
          <p:cNvPr id="18" name="Text 16"/>
          <p:cNvSpPr/>
          <p:nvPr/>
        </p:nvSpPr>
        <p:spPr>
          <a:xfrm>
            <a:off x="9451044" y="1611090"/>
            <a:ext cx="193134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1A1A1A"/>
                </a:solidFill>
                <a:latin typeface="Fragment Mono" pitchFamily="34" charset="0"/>
                <a:ea typeface="Fragment Mono" pitchFamily="34" charset="-122"/>
                <a:cs typeface="Fragment Mono" pitchFamily="34" charset="0"/>
              </a:rPr>
              <a:t>DISTILLATION</a:t>
            </a:r>
            <a:endParaRPr lang="en-US" sz="1350" dirty="0"/>
          </a:p>
        </p:txBody>
      </p:sp>
      <p:sp>
        <p:nvSpPr>
          <p:cNvPr id="19" name="Text 17"/>
          <p:cNvSpPr/>
          <p:nvPr/>
        </p:nvSpPr>
        <p:spPr>
          <a:xfrm>
            <a:off x="9321567" y="2012811"/>
            <a:ext cx="2082748" cy="1748433"/>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0"/>
              </a:rPr>
              <a:t>Knowledge Distillation transfers useful knowledge from a larger teacher CNN to a smaller student CNN.</a:t>
            </a:r>
            <a:endParaRPr lang="en-US" sz="1700" dirty="0"/>
          </a:p>
        </p:txBody>
      </p:sp>
      <p:sp>
        <p:nvSpPr>
          <p:cNvPr id="20" name="Shape 18"/>
          <p:cNvSpPr/>
          <p:nvPr/>
        </p:nvSpPr>
        <p:spPr>
          <a:xfrm>
            <a:off x="558786" y="4175423"/>
            <a:ext cx="2654234" cy="1600200"/>
          </a:xfrm>
          <a:prstGeom prst="rect">
            <a:avLst/>
          </a:prstGeom>
          <a:solidFill>
            <a:srgbClr val="A186F3"/>
          </a:solidFill>
          <a:ln/>
        </p:spPr>
      </p:sp>
      <p:sp>
        <p:nvSpPr>
          <p:cNvPr id="21" name="Text 19"/>
          <p:cNvSpPr/>
          <p:nvPr/>
        </p:nvSpPr>
        <p:spPr>
          <a:xfrm>
            <a:off x="787380" y="4418310"/>
            <a:ext cx="2197045"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000000"/>
                </a:solidFill>
                <a:latin typeface="Inter Tight" pitchFamily="34" charset="0"/>
                <a:ea typeface="Inter Tight" pitchFamily="34" charset="-122"/>
                <a:cs typeface="Inter Tight" pitchFamily="34" charset="0"/>
              </a:rPr>
              <a:t>Teacher CNN →</a:t>
            </a:r>
            <a:endParaRPr lang="en-US" sz="2400" dirty="0"/>
          </a:p>
        </p:txBody>
      </p:sp>
      <p:sp>
        <p:nvSpPr>
          <p:cNvPr id="22" name="Shape 20"/>
          <p:cNvSpPr/>
          <p:nvPr/>
        </p:nvSpPr>
        <p:spPr>
          <a:xfrm>
            <a:off x="3365416" y="4175423"/>
            <a:ext cx="2654234" cy="1600200"/>
          </a:xfrm>
          <a:prstGeom prst="rect">
            <a:avLst/>
          </a:prstGeom>
          <a:solidFill>
            <a:srgbClr val="A186F3"/>
          </a:solidFill>
          <a:ln/>
        </p:spPr>
      </p:sp>
      <p:sp>
        <p:nvSpPr>
          <p:cNvPr id="23" name="Text 21"/>
          <p:cNvSpPr/>
          <p:nvPr/>
        </p:nvSpPr>
        <p:spPr>
          <a:xfrm>
            <a:off x="3594010" y="4418310"/>
            <a:ext cx="2197045" cy="1143000"/>
          </a:xfrm>
          <a:prstGeom prst="rect">
            <a:avLst/>
          </a:prstGeom>
          <a:noFill/>
          <a:ln/>
        </p:spPr>
        <p:txBody>
          <a:bodyPr wrap="square" lIns="0" tIns="0" rIns="0" bIns="0" rtlCol="0" anchor="t">
            <a:normAutofit/>
          </a:bodyPr>
          <a:lstStyle/>
          <a:p>
            <a:pPr algn="l" indent="0" marL="0">
              <a:lnSpc>
                <a:spcPct val="104000"/>
              </a:lnSpc>
              <a:buNone/>
            </a:pPr>
            <a:r>
              <a:rPr lang="en-US" sz="2400" spc="-12" kern="100" dirty="0">
                <a:solidFill>
                  <a:srgbClr val="000000"/>
                </a:solidFill>
                <a:latin typeface="Inter Tight" pitchFamily="34" charset="0"/>
                <a:ea typeface="Inter Tight" pitchFamily="34" charset="-122"/>
                <a:cs typeface="Inter Tight" pitchFamily="34" charset="0"/>
              </a:rPr>
              <a:t>GA-Based Channel Pruning →</a:t>
            </a:r>
            <a:endParaRPr lang="en-US" sz="2400" dirty="0"/>
          </a:p>
        </p:txBody>
      </p:sp>
      <p:sp>
        <p:nvSpPr>
          <p:cNvPr id="24" name="Shape 22"/>
          <p:cNvSpPr/>
          <p:nvPr/>
        </p:nvSpPr>
        <p:spPr>
          <a:xfrm>
            <a:off x="6172046" y="4175423"/>
            <a:ext cx="2654234" cy="1600200"/>
          </a:xfrm>
          <a:prstGeom prst="rect">
            <a:avLst/>
          </a:prstGeom>
          <a:solidFill>
            <a:srgbClr val="A186F3"/>
          </a:solidFill>
          <a:ln/>
        </p:spPr>
      </p:sp>
      <p:sp>
        <p:nvSpPr>
          <p:cNvPr id="25" name="Text 23"/>
          <p:cNvSpPr/>
          <p:nvPr/>
        </p:nvSpPr>
        <p:spPr>
          <a:xfrm>
            <a:off x="6400640" y="4418310"/>
            <a:ext cx="2197045" cy="762000"/>
          </a:xfrm>
          <a:prstGeom prst="rect">
            <a:avLst/>
          </a:prstGeom>
          <a:noFill/>
          <a:ln/>
        </p:spPr>
        <p:txBody>
          <a:bodyPr wrap="square" lIns="0" tIns="0" rIns="0" bIns="0" rtlCol="0" anchor="t">
            <a:normAutofit/>
          </a:bodyPr>
          <a:lstStyle/>
          <a:p>
            <a:pPr algn="l" indent="0" marL="0">
              <a:lnSpc>
                <a:spcPct val="104000"/>
              </a:lnSpc>
              <a:buNone/>
            </a:pPr>
            <a:r>
              <a:rPr lang="en-US" sz="2400" spc="-12" kern="100" dirty="0">
                <a:solidFill>
                  <a:srgbClr val="000000"/>
                </a:solidFill>
                <a:latin typeface="Inter Tight" pitchFamily="34" charset="0"/>
                <a:ea typeface="Inter Tight" pitchFamily="34" charset="-122"/>
                <a:cs typeface="Inter Tight" pitchFamily="34" charset="0"/>
              </a:rPr>
              <a:t>Knowledge Distillation →</a:t>
            </a:r>
            <a:endParaRPr lang="en-US" sz="2400" dirty="0"/>
          </a:p>
        </p:txBody>
      </p:sp>
      <p:sp>
        <p:nvSpPr>
          <p:cNvPr id="26" name="Shape 24"/>
          <p:cNvSpPr/>
          <p:nvPr/>
        </p:nvSpPr>
        <p:spPr>
          <a:xfrm>
            <a:off x="8978675" y="4175423"/>
            <a:ext cx="2654234" cy="1600200"/>
          </a:xfrm>
          <a:prstGeom prst="rect">
            <a:avLst/>
          </a:prstGeom>
          <a:solidFill>
            <a:srgbClr val="A186F3"/>
          </a:solidFill>
          <a:ln/>
        </p:spPr>
      </p:sp>
      <p:sp>
        <p:nvSpPr>
          <p:cNvPr id="27" name="Text 25"/>
          <p:cNvSpPr/>
          <p:nvPr/>
        </p:nvSpPr>
        <p:spPr>
          <a:xfrm>
            <a:off x="9207270" y="4418310"/>
            <a:ext cx="2197045" cy="762000"/>
          </a:xfrm>
          <a:prstGeom prst="rect">
            <a:avLst/>
          </a:prstGeom>
          <a:noFill/>
          <a:ln/>
        </p:spPr>
        <p:txBody>
          <a:bodyPr wrap="square" lIns="0" tIns="0" rIns="0" bIns="0" rtlCol="0" anchor="t">
            <a:normAutofit/>
          </a:bodyPr>
          <a:lstStyle/>
          <a:p>
            <a:pPr algn="l" indent="0" marL="0">
              <a:lnSpc>
                <a:spcPct val="104000"/>
              </a:lnSpc>
              <a:buNone/>
            </a:pPr>
            <a:r>
              <a:rPr lang="en-US" sz="2400" spc="-12" kern="100" dirty="0">
                <a:solidFill>
                  <a:srgbClr val="000000"/>
                </a:solidFill>
                <a:latin typeface="Inter Tight" pitchFamily="34" charset="0"/>
                <a:ea typeface="Inter Tight" pitchFamily="34" charset="-122"/>
                <a:cs typeface="Inter Tight" pitchFamily="34" charset="0"/>
              </a:rPr>
              <a:t>Compressed Student CNN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860703" cy="6346031"/>
          </a:xfrm>
          <a:prstGeom prst="rect">
            <a:avLst/>
          </a:prstGeom>
          <a:solidFill>
            <a:srgbClr val="E2DAFB"/>
          </a:solidFill>
          <a:ln/>
        </p:spPr>
      </p:sp>
      <p:sp>
        <p:nvSpPr>
          <p:cNvPr id="3" name="Text 1"/>
          <p:cNvSpPr/>
          <p:nvPr/>
        </p:nvSpPr>
        <p:spPr>
          <a:xfrm>
            <a:off x="457189" y="433415"/>
            <a:ext cx="3403515" cy="213320"/>
          </a:xfrm>
          <a:prstGeom prst="rect">
            <a:avLst/>
          </a:prstGeom>
          <a:noFill/>
          <a:ln/>
        </p:spPr>
        <p:txBody>
          <a:bodyPr wrap="none" lIns="0" tIns="0" rIns="0" bIns="0" rtlCol="0" anchor="t"/>
          <a:lstStyle/>
          <a:p>
            <a:pPr algn="l" indent="0" marL="0">
              <a:lnSpc>
                <a:spcPct val="100000"/>
              </a:lnSpc>
              <a:buNone/>
            </a:pPr>
            <a:r>
              <a:rPr lang="en-US" sz="1400" spc="56" kern="100" dirty="0">
                <a:solidFill>
                  <a:srgbClr val="000000"/>
                </a:solidFill>
                <a:latin typeface="Fragment Mono" pitchFamily="34" charset="0"/>
                <a:ea typeface="Fragment Mono" pitchFamily="34" charset="-122"/>
                <a:cs typeface="Fragment Mono" pitchFamily="34" charset="0"/>
              </a:rPr>
              <a:t>03 / MAIN OBJECTIVE</a:t>
            </a:r>
            <a:endParaRPr lang="en-US" sz="1400" dirty="0"/>
          </a:p>
        </p:txBody>
      </p:sp>
      <p:sp>
        <p:nvSpPr>
          <p:cNvPr id="4" name="Text 2"/>
          <p:cNvSpPr/>
          <p:nvPr/>
        </p:nvSpPr>
        <p:spPr>
          <a:xfrm>
            <a:off x="457189" y="766516"/>
            <a:ext cx="3047924" cy="1841500"/>
          </a:xfrm>
          <a:prstGeom prst="rect">
            <a:avLst/>
          </a:prstGeom>
          <a:noFill/>
          <a:ln/>
        </p:spPr>
        <p:txBody>
          <a:bodyPr wrap="square" lIns="0" tIns="0" rIns="0" bIns="0" rtlCol="0" anchor="t">
            <a:normAutofit/>
          </a:bodyPr>
          <a:lstStyle/>
          <a:p>
            <a:pPr algn="l" indent="0" marL="0">
              <a:lnSpc>
                <a:spcPct val="83000"/>
              </a:lnSpc>
              <a:buNone/>
            </a:pPr>
            <a:r>
              <a:rPr lang="en-US" sz="2900" spc="-101" kern="100" dirty="0">
                <a:solidFill>
                  <a:srgbClr val="000000"/>
                </a:solidFill>
                <a:latin typeface="Inter Tight SemiBold" pitchFamily="34" charset="0"/>
                <a:ea typeface="Inter Tight SemiBold" pitchFamily="34" charset="-122"/>
                <a:cs typeface="Inter Tight SemiBold" pitchFamily="34" charset="0"/>
              </a:rPr>
              <a:t>Reduce CNN complexity while maintaining classification accuracy</a:t>
            </a:r>
            <a:endParaRPr lang="en-US" sz="2900" dirty="0"/>
          </a:p>
        </p:txBody>
      </p:sp>
      <p:pic>
        <p:nvPicPr>
          <p:cNvPr id="5" name="Image 0" descr="preencoded.png">    </p:cNvPr>
          <p:cNvPicPr>
            <a:picLocks noChangeAspect="1"/>
          </p:cNvPicPr>
          <p:nvPr/>
        </p:nvPicPr>
        <p:blipFill>
          <a:blip r:embed="rId1"/>
          <a:stretch>
            <a:fillRect/>
          </a:stretch>
        </p:blipFill>
        <p:spPr>
          <a:xfrm>
            <a:off x="457189" y="2572345"/>
            <a:ext cx="3047924" cy="3494286"/>
          </a:xfrm>
          <a:prstGeom prst="rect">
            <a:avLst/>
          </a:prstGeom>
        </p:spPr>
      </p:pic>
      <p:pic>
        <p:nvPicPr>
          <p:cNvPr id="6" name="Image 1" descr="preencoded.png">    </p:cNvPr>
          <p:cNvPicPr>
            <a:picLocks noChangeAspect="1"/>
          </p:cNvPicPr>
          <p:nvPr/>
        </p:nvPicPr>
        <p:blipFill>
          <a:blip r:embed="rId2"/>
          <a:stretch>
            <a:fillRect/>
          </a:stretch>
        </p:blipFill>
        <p:spPr>
          <a:xfrm>
            <a:off x="4165496" y="431800"/>
            <a:ext cx="431789" cy="431800"/>
          </a:xfrm>
          <a:prstGeom prst="rect">
            <a:avLst/>
          </a:prstGeom>
        </p:spPr>
      </p:pic>
      <p:sp>
        <p:nvSpPr>
          <p:cNvPr id="7" name="Text 3"/>
          <p:cNvSpPr/>
          <p:nvPr/>
        </p:nvSpPr>
        <p:spPr>
          <a:xfrm>
            <a:off x="4165496" y="1058890"/>
            <a:ext cx="3784505" cy="213320"/>
          </a:xfrm>
          <a:prstGeom prst="rect">
            <a:avLst/>
          </a:prstGeom>
          <a:noFill/>
          <a:ln/>
        </p:spPr>
        <p:txBody>
          <a:bodyPr wrap="none" lIns="0" tIns="0" rIns="0" bIns="0" rtlCol="0" anchor="t"/>
          <a:lstStyle/>
          <a:p>
            <a:pPr algn="l" indent="0" marL="0">
              <a:lnSpc>
                <a:spcPct val="100000"/>
              </a:lnSpc>
              <a:buNone/>
            </a:pPr>
            <a:r>
              <a:rPr lang="en-US" sz="1400" spc="56" kern="100" dirty="0">
                <a:solidFill>
                  <a:srgbClr val="1A1A1A"/>
                </a:solidFill>
                <a:latin typeface="Fragment Mono" pitchFamily="34" charset="0"/>
                <a:ea typeface="Fragment Mono" pitchFamily="34" charset="-122"/>
                <a:cs typeface="Fragment Mono" pitchFamily="34" charset="0"/>
              </a:rPr>
              <a:t>PARAMETER EFFICIENCY</a:t>
            </a:r>
            <a:endParaRPr lang="en-US" sz="1400" dirty="0"/>
          </a:p>
        </p:txBody>
      </p:sp>
      <p:sp>
        <p:nvSpPr>
          <p:cNvPr id="8" name="Text 4"/>
          <p:cNvSpPr/>
          <p:nvPr/>
        </p:nvSpPr>
        <p:spPr>
          <a:xfrm>
            <a:off x="4165496" y="1371401"/>
            <a:ext cx="3555911"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Reduce model parameters</a:t>
            </a:r>
            <a:endParaRPr lang="en-US" sz="1900" dirty="0"/>
          </a:p>
        </p:txBody>
      </p:sp>
      <p:sp>
        <p:nvSpPr>
          <p:cNvPr id="9" name="Text 5"/>
          <p:cNvSpPr/>
          <p:nvPr/>
        </p:nvSpPr>
        <p:spPr>
          <a:xfrm>
            <a:off x="4165496" y="1815902"/>
            <a:ext cx="3784505" cy="257175"/>
          </a:xfrm>
          <a:prstGeom prst="rect">
            <a:avLst/>
          </a:prstGeom>
          <a:noFill/>
          <a:ln/>
        </p:spPr>
        <p:txBody>
          <a:bodyPr wrap="none" lIns="0" tIns="0" rIns="0" bIns="0" rtlCol="0" anchor="t"/>
          <a:lstStyle/>
          <a:p>
            <a:pPr algn="l" indent="0" marL="0">
              <a:lnSpc>
                <a:spcPct val="113000"/>
              </a:lnSpc>
              <a:buNone/>
            </a:pPr>
            <a:r>
              <a:rPr lang="en-US" sz="1500" dirty="0">
                <a:solidFill>
                  <a:srgbClr val="1A1A1A"/>
                </a:solidFill>
                <a:latin typeface="Inter Tight" pitchFamily="34" charset="0"/>
                <a:ea typeface="Inter Tight" pitchFamily="34" charset="-122"/>
                <a:cs typeface="Inter Tight" pitchFamily="34" charset="0"/>
              </a:rPr>
              <a:t>Fewer weights to store and load.</a:t>
            </a:r>
            <a:endParaRPr lang="en-US" sz="1500" dirty="0"/>
          </a:p>
        </p:txBody>
      </p:sp>
      <p:sp>
        <p:nvSpPr>
          <p:cNvPr id="10" name="Text 6"/>
          <p:cNvSpPr/>
          <p:nvPr/>
        </p:nvSpPr>
        <p:spPr>
          <a:xfrm>
            <a:off x="4165496" y="2266275"/>
            <a:ext cx="3784505" cy="240010"/>
          </a:xfrm>
          <a:prstGeom prst="rect">
            <a:avLst/>
          </a:prstGeom>
          <a:noFill/>
          <a:ln/>
        </p:spPr>
        <p:txBody>
          <a:bodyPr wrap="none" lIns="0" tIns="0" rIns="0" bIns="0" rtlCol="0" anchor="t"/>
          <a:lstStyle/>
          <a:p>
            <a:pPr algn="l" indent="0" marL="0">
              <a:lnSpc>
                <a:spcPct val="112000"/>
              </a:lnSpc>
              <a:buNone/>
            </a:pPr>
            <a:r>
              <a:rPr lang="en-US" sz="1400" dirty="0">
                <a:solidFill>
                  <a:srgbClr val="1A1A1A"/>
                </a:solidFill>
                <a:latin typeface="Inter Tight" pitchFamily="34" charset="0"/>
                <a:ea typeface="Inter Tight" pitchFamily="34" charset="-122"/>
                <a:cs typeface="Inter Tight" pitchFamily="34" charset="0"/>
              </a:rPr>
              <a:t>Reduce trainable weights and model memory.</a:t>
            </a:r>
            <a:endParaRPr lang="en-US" sz="1400" dirty="0"/>
          </a:p>
        </p:txBody>
      </p:sp>
      <p:pic>
        <p:nvPicPr>
          <p:cNvPr id="11" name="Image 2" descr="preencoded.png">    </p:cNvPr>
          <p:cNvPicPr>
            <a:picLocks noChangeAspect="1"/>
          </p:cNvPicPr>
          <p:nvPr/>
        </p:nvPicPr>
        <p:blipFill>
          <a:blip r:embed="rId3"/>
          <a:stretch>
            <a:fillRect/>
          </a:stretch>
        </p:blipFill>
        <p:spPr>
          <a:xfrm>
            <a:off x="8178595" y="431800"/>
            <a:ext cx="431789" cy="431800"/>
          </a:xfrm>
          <a:prstGeom prst="rect">
            <a:avLst/>
          </a:prstGeom>
        </p:spPr>
      </p:pic>
      <p:sp>
        <p:nvSpPr>
          <p:cNvPr id="12" name="Text 7"/>
          <p:cNvSpPr/>
          <p:nvPr/>
        </p:nvSpPr>
        <p:spPr>
          <a:xfrm>
            <a:off x="8178595" y="1058890"/>
            <a:ext cx="3555911" cy="213320"/>
          </a:xfrm>
          <a:prstGeom prst="rect">
            <a:avLst/>
          </a:prstGeom>
          <a:noFill/>
          <a:ln/>
        </p:spPr>
        <p:txBody>
          <a:bodyPr wrap="none" lIns="0" tIns="0" rIns="0" bIns="0" rtlCol="0" anchor="t"/>
          <a:lstStyle/>
          <a:p>
            <a:pPr algn="l" indent="0" marL="0">
              <a:lnSpc>
                <a:spcPct val="100000"/>
              </a:lnSpc>
              <a:buNone/>
            </a:pPr>
            <a:r>
              <a:rPr lang="en-US" sz="1400" spc="56" kern="100" dirty="0">
                <a:solidFill>
                  <a:srgbClr val="1A1A1A"/>
                </a:solidFill>
                <a:latin typeface="Fragment Mono" pitchFamily="34" charset="0"/>
                <a:ea typeface="Fragment Mono" pitchFamily="34" charset="-122"/>
                <a:cs typeface="Fragment Mono" pitchFamily="34" charset="0"/>
              </a:rPr>
              <a:t>COMPUTATIONAL EFFICIENCY</a:t>
            </a:r>
            <a:endParaRPr lang="en-US" sz="1400" dirty="0"/>
          </a:p>
        </p:txBody>
      </p:sp>
      <p:sp>
        <p:nvSpPr>
          <p:cNvPr id="13" name="Text 8"/>
          <p:cNvSpPr/>
          <p:nvPr/>
        </p:nvSpPr>
        <p:spPr>
          <a:xfrm>
            <a:off x="8178595" y="1371401"/>
            <a:ext cx="3555911"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Reduce MACs</a:t>
            </a:r>
            <a:endParaRPr lang="en-US" sz="1900" dirty="0"/>
          </a:p>
        </p:txBody>
      </p:sp>
      <p:sp>
        <p:nvSpPr>
          <p:cNvPr id="14" name="Text 9"/>
          <p:cNvSpPr/>
          <p:nvPr/>
        </p:nvSpPr>
        <p:spPr>
          <a:xfrm>
            <a:off x="8178595" y="1815902"/>
            <a:ext cx="3555911" cy="514350"/>
          </a:xfrm>
          <a:prstGeom prst="rect">
            <a:avLst/>
          </a:prstGeom>
          <a:noFill/>
          <a:ln/>
        </p:spPr>
        <p:txBody>
          <a:bodyPr wrap="square" lIns="0" tIns="0" rIns="0" bIns="0" rtlCol="0" anchor="t">
            <a:normAutofit/>
          </a:bodyPr>
          <a:lstStyle/>
          <a:p>
            <a:pPr algn="l" indent="0" marL="0">
              <a:lnSpc>
                <a:spcPct val="113000"/>
              </a:lnSpc>
              <a:buNone/>
            </a:pPr>
            <a:r>
              <a:rPr lang="en-US" sz="1500" dirty="0">
                <a:solidFill>
                  <a:srgbClr val="1A1A1A"/>
                </a:solidFill>
                <a:latin typeface="Inter Tight" pitchFamily="34" charset="0"/>
                <a:ea typeface="Inter Tight" pitchFamily="34" charset="-122"/>
                <a:cs typeface="Inter Tight" pitchFamily="34" charset="0"/>
              </a:rPr>
              <a:t>Fewer multiply-accumulate operations per image.</a:t>
            </a:r>
            <a:endParaRPr lang="en-US" sz="1500" dirty="0"/>
          </a:p>
        </p:txBody>
      </p:sp>
      <p:sp>
        <p:nvSpPr>
          <p:cNvPr id="15" name="Text 10"/>
          <p:cNvSpPr/>
          <p:nvPr/>
        </p:nvSpPr>
        <p:spPr>
          <a:xfrm>
            <a:off x="8178595" y="2523450"/>
            <a:ext cx="3555911" cy="240010"/>
          </a:xfrm>
          <a:prstGeom prst="rect">
            <a:avLst/>
          </a:prstGeom>
          <a:noFill/>
          <a:ln/>
        </p:spPr>
        <p:txBody>
          <a:bodyPr wrap="none" lIns="0" tIns="0" rIns="0" bIns="0" rtlCol="0" anchor="t"/>
          <a:lstStyle/>
          <a:p>
            <a:pPr algn="l" indent="0" marL="0">
              <a:lnSpc>
                <a:spcPct val="112000"/>
              </a:lnSpc>
              <a:buNone/>
            </a:pPr>
            <a:r>
              <a:rPr lang="en-US" sz="1400" dirty="0">
                <a:solidFill>
                  <a:srgbClr val="1A1A1A"/>
                </a:solidFill>
                <a:latin typeface="Inter Tight" pitchFamily="34" charset="0"/>
                <a:ea typeface="Inter Tight" pitchFamily="34" charset="-122"/>
                <a:cs typeface="Inter Tight" pitchFamily="34" charset="0"/>
              </a:rPr>
              <a:t>Reduce MACs and FLOPs.</a:t>
            </a:r>
            <a:endParaRPr lang="en-US" sz="1400" dirty="0"/>
          </a:p>
        </p:txBody>
      </p:sp>
      <p:pic>
        <p:nvPicPr>
          <p:cNvPr id="16" name="Image 3" descr="preencoded.png">    </p:cNvPr>
          <p:cNvPicPr>
            <a:picLocks noChangeAspect="1"/>
          </p:cNvPicPr>
          <p:nvPr/>
        </p:nvPicPr>
        <p:blipFill>
          <a:blip r:embed="rId4"/>
          <a:stretch>
            <a:fillRect/>
          </a:stretch>
        </p:blipFill>
        <p:spPr>
          <a:xfrm>
            <a:off x="4165496" y="3401616"/>
            <a:ext cx="431789" cy="431800"/>
          </a:xfrm>
          <a:prstGeom prst="rect">
            <a:avLst/>
          </a:prstGeom>
        </p:spPr>
      </p:pic>
      <p:sp>
        <p:nvSpPr>
          <p:cNvPr id="17" name="Text 11"/>
          <p:cNvSpPr/>
          <p:nvPr/>
        </p:nvSpPr>
        <p:spPr>
          <a:xfrm>
            <a:off x="4165496" y="4028706"/>
            <a:ext cx="3784505" cy="213320"/>
          </a:xfrm>
          <a:prstGeom prst="rect">
            <a:avLst/>
          </a:prstGeom>
          <a:noFill/>
          <a:ln/>
        </p:spPr>
        <p:txBody>
          <a:bodyPr wrap="none" lIns="0" tIns="0" rIns="0" bIns="0" rtlCol="0" anchor="t"/>
          <a:lstStyle/>
          <a:p>
            <a:pPr algn="l" indent="0" marL="0">
              <a:lnSpc>
                <a:spcPct val="100000"/>
              </a:lnSpc>
              <a:buNone/>
            </a:pPr>
            <a:r>
              <a:rPr lang="en-US" sz="1400" spc="56" kern="100" dirty="0">
                <a:solidFill>
                  <a:srgbClr val="1A1A1A"/>
                </a:solidFill>
                <a:latin typeface="Fragment Mono" pitchFamily="34" charset="0"/>
                <a:ea typeface="Fragment Mono" pitchFamily="34" charset="-122"/>
                <a:cs typeface="Fragment Mono" pitchFamily="34" charset="0"/>
              </a:rPr>
              <a:t>ACCURACY PRESERVATION</a:t>
            </a:r>
            <a:endParaRPr lang="en-US" sz="1400" dirty="0"/>
          </a:p>
        </p:txBody>
      </p:sp>
      <p:sp>
        <p:nvSpPr>
          <p:cNvPr id="18" name="Text 12"/>
          <p:cNvSpPr/>
          <p:nvPr/>
        </p:nvSpPr>
        <p:spPr>
          <a:xfrm>
            <a:off x="4165496" y="4341217"/>
            <a:ext cx="3555911" cy="603250"/>
          </a:xfrm>
          <a:prstGeom prst="rect">
            <a:avLst/>
          </a:prstGeom>
          <a:noFill/>
          <a:ln/>
        </p:spPr>
        <p:txBody>
          <a:bodyPr wrap="square" lIns="0" tIns="0" rIns="0" bIns="0" rtlCol="0" anchor="t">
            <a:normAutofit/>
          </a:bodyPr>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Preserve classification performance</a:t>
            </a:r>
            <a:endParaRPr lang="en-US" sz="1900" dirty="0"/>
          </a:p>
        </p:txBody>
      </p:sp>
      <p:sp>
        <p:nvSpPr>
          <p:cNvPr id="19" name="Text 13"/>
          <p:cNvSpPr/>
          <p:nvPr/>
        </p:nvSpPr>
        <p:spPr>
          <a:xfrm>
            <a:off x="4165496" y="5087342"/>
            <a:ext cx="3784505" cy="257175"/>
          </a:xfrm>
          <a:prstGeom prst="rect">
            <a:avLst/>
          </a:prstGeom>
          <a:noFill/>
          <a:ln/>
        </p:spPr>
        <p:txBody>
          <a:bodyPr wrap="none" lIns="0" tIns="0" rIns="0" bIns="0" rtlCol="0" anchor="t"/>
          <a:lstStyle/>
          <a:p>
            <a:pPr algn="l" indent="0" marL="0">
              <a:lnSpc>
                <a:spcPct val="113000"/>
              </a:lnSpc>
              <a:buNone/>
            </a:pPr>
            <a:r>
              <a:rPr lang="en-US" sz="1500" dirty="0">
                <a:solidFill>
                  <a:srgbClr val="1A1A1A"/>
                </a:solidFill>
                <a:latin typeface="Inter Tight" pitchFamily="34" charset="0"/>
                <a:ea typeface="Inter Tight" pitchFamily="34" charset="-122"/>
                <a:cs typeface="Inter Tight" pitchFamily="34" charset="0"/>
              </a:rPr>
              <a:t>Test accuracy stays close to the teacher.</a:t>
            </a:r>
            <a:endParaRPr lang="en-US" sz="1500" dirty="0"/>
          </a:p>
        </p:txBody>
      </p:sp>
      <p:sp>
        <p:nvSpPr>
          <p:cNvPr id="20" name="Text 14"/>
          <p:cNvSpPr/>
          <p:nvPr/>
        </p:nvSpPr>
        <p:spPr>
          <a:xfrm>
            <a:off x="4165496" y="5537716"/>
            <a:ext cx="3555911" cy="480020"/>
          </a:xfrm>
          <a:prstGeom prst="rect">
            <a:avLst/>
          </a:prstGeom>
          <a:noFill/>
          <a:ln/>
        </p:spPr>
        <p:txBody>
          <a:bodyPr wrap="square" lIns="0" tIns="0" rIns="0" bIns="0" rtlCol="0" anchor="t">
            <a:normAutofit/>
          </a:bodyPr>
          <a:lstStyle/>
          <a:p>
            <a:pPr algn="l" indent="0" marL="0">
              <a:lnSpc>
                <a:spcPct val="112000"/>
              </a:lnSpc>
              <a:buNone/>
            </a:pPr>
            <a:r>
              <a:rPr lang="en-US" sz="1400" dirty="0">
                <a:solidFill>
                  <a:srgbClr val="1A1A1A"/>
                </a:solidFill>
                <a:latin typeface="Inter Tight" pitchFamily="34" charset="0"/>
                <a:ea typeface="Inter Tight" pitchFamily="34" charset="-122"/>
                <a:cs typeface="Inter Tight" pitchFamily="34" charset="0"/>
              </a:rPr>
              <a:t>Keep student performance close to the teacher using Knowledge Distillation.</a:t>
            </a:r>
            <a:endParaRPr lang="en-US" sz="1400" dirty="0"/>
          </a:p>
        </p:txBody>
      </p:sp>
      <p:pic>
        <p:nvPicPr>
          <p:cNvPr id="21" name="Image 4" descr="preencoded.png">    </p:cNvPr>
          <p:cNvPicPr>
            <a:picLocks noChangeAspect="1"/>
          </p:cNvPicPr>
          <p:nvPr/>
        </p:nvPicPr>
        <p:blipFill>
          <a:blip r:embed="rId5"/>
          <a:stretch>
            <a:fillRect/>
          </a:stretch>
        </p:blipFill>
        <p:spPr>
          <a:xfrm>
            <a:off x="8178595" y="3401616"/>
            <a:ext cx="431789" cy="431800"/>
          </a:xfrm>
          <a:prstGeom prst="rect">
            <a:avLst/>
          </a:prstGeom>
        </p:spPr>
      </p:pic>
      <p:sp>
        <p:nvSpPr>
          <p:cNvPr id="22" name="Text 15"/>
          <p:cNvSpPr/>
          <p:nvPr/>
        </p:nvSpPr>
        <p:spPr>
          <a:xfrm>
            <a:off x="8178595" y="4028706"/>
            <a:ext cx="3555911" cy="213320"/>
          </a:xfrm>
          <a:prstGeom prst="rect">
            <a:avLst/>
          </a:prstGeom>
          <a:noFill/>
          <a:ln/>
        </p:spPr>
        <p:txBody>
          <a:bodyPr wrap="none" lIns="0" tIns="0" rIns="0" bIns="0" rtlCol="0" anchor="t"/>
          <a:lstStyle/>
          <a:p>
            <a:pPr algn="l" indent="0" marL="0">
              <a:lnSpc>
                <a:spcPct val="100000"/>
              </a:lnSpc>
              <a:buNone/>
            </a:pPr>
            <a:r>
              <a:rPr lang="en-US" sz="1400" spc="56" kern="100" dirty="0">
                <a:solidFill>
                  <a:srgbClr val="1A1A1A"/>
                </a:solidFill>
                <a:latin typeface="Fragment Mono" pitchFamily="34" charset="0"/>
                <a:ea typeface="Fragment Mono" pitchFamily="34" charset="-122"/>
                <a:cs typeface="Fragment Mono" pitchFamily="34" charset="0"/>
              </a:rPr>
              <a:t>DEPLOYMENT MEASUREMENT</a:t>
            </a:r>
            <a:endParaRPr lang="en-US" sz="1400" dirty="0"/>
          </a:p>
        </p:txBody>
      </p:sp>
      <p:sp>
        <p:nvSpPr>
          <p:cNvPr id="23" name="Text 16"/>
          <p:cNvSpPr/>
          <p:nvPr/>
        </p:nvSpPr>
        <p:spPr>
          <a:xfrm>
            <a:off x="8178595" y="4341217"/>
            <a:ext cx="3555911"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Measure inference latency</a:t>
            </a:r>
            <a:endParaRPr lang="en-US" sz="1900" dirty="0"/>
          </a:p>
        </p:txBody>
      </p:sp>
      <p:sp>
        <p:nvSpPr>
          <p:cNvPr id="24" name="Text 17"/>
          <p:cNvSpPr/>
          <p:nvPr/>
        </p:nvSpPr>
        <p:spPr>
          <a:xfrm>
            <a:off x="8178595" y="4785717"/>
            <a:ext cx="3555911" cy="514350"/>
          </a:xfrm>
          <a:prstGeom prst="rect">
            <a:avLst/>
          </a:prstGeom>
          <a:noFill/>
          <a:ln/>
        </p:spPr>
        <p:txBody>
          <a:bodyPr wrap="square" lIns="0" tIns="0" rIns="0" bIns="0" rtlCol="0" anchor="t">
            <a:normAutofit/>
          </a:bodyPr>
          <a:lstStyle/>
          <a:p>
            <a:pPr algn="l" indent="0" marL="0">
              <a:lnSpc>
                <a:spcPct val="113000"/>
              </a:lnSpc>
              <a:buNone/>
            </a:pPr>
            <a:r>
              <a:rPr lang="en-US" sz="1500" dirty="0">
                <a:solidFill>
                  <a:srgbClr val="1A1A1A"/>
                </a:solidFill>
                <a:latin typeface="Inter Tight" pitchFamily="34" charset="0"/>
                <a:ea typeface="Inter Tight" pitchFamily="34" charset="-122"/>
                <a:cs typeface="Inter Tight" pitchFamily="34" charset="0"/>
              </a:rPr>
              <a:t>Speed is measured on hardware, not assumed.</a:t>
            </a:r>
            <a:endParaRPr lang="en-US" sz="1500" dirty="0"/>
          </a:p>
        </p:txBody>
      </p:sp>
      <p:sp>
        <p:nvSpPr>
          <p:cNvPr id="25" name="Text 18"/>
          <p:cNvSpPr/>
          <p:nvPr/>
        </p:nvSpPr>
        <p:spPr>
          <a:xfrm>
            <a:off x="8178595" y="5493266"/>
            <a:ext cx="3555911" cy="480020"/>
          </a:xfrm>
          <a:prstGeom prst="rect">
            <a:avLst/>
          </a:prstGeom>
          <a:noFill/>
          <a:ln/>
        </p:spPr>
        <p:txBody>
          <a:bodyPr wrap="square" lIns="0" tIns="0" rIns="0" bIns="0" rtlCol="0" anchor="t">
            <a:normAutofit/>
          </a:bodyPr>
          <a:lstStyle/>
          <a:p>
            <a:pPr algn="l" indent="0" marL="0">
              <a:lnSpc>
                <a:spcPct val="112000"/>
              </a:lnSpc>
              <a:buNone/>
            </a:pPr>
            <a:r>
              <a:rPr lang="en-US" sz="1400" dirty="0">
                <a:solidFill>
                  <a:srgbClr val="1A1A1A"/>
                </a:solidFill>
                <a:latin typeface="Inter Tight" pitchFamily="34" charset="0"/>
                <a:ea typeface="Inter Tight" pitchFamily="34" charset="-122"/>
                <a:cs typeface="Inter Tight" pitchFamily="34" charset="0"/>
              </a:rPr>
              <a:t>Compare inference latency on the same hardware.</a:t>
            </a:r>
            <a:endParaRPr lang="en-US" sz="1400" dirty="0"/>
          </a:p>
        </p:txBody>
      </p:sp>
      <p:sp>
        <p:nvSpPr>
          <p:cNvPr id="26" name="Shape 19"/>
          <p:cNvSpPr/>
          <p:nvPr/>
        </p:nvSpPr>
        <p:spPr>
          <a:xfrm>
            <a:off x="0" y="6346031"/>
            <a:ext cx="12191695" cy="511969"/>
          </a:xfrm>
          <a:prstGeom prst="rect">
            <a:avLst/>
          </a:prstGeom>
          <a:solidFill>
            <a:srgbClr val="34206F"/>
          </a:solidFill>
          <a:ln/>
        </p:spPr>
      </p:sp>
      <p:sp>
        <p:nvSpPr>
          <p:cNvPr id="27" name="Text 20"/>
          <p:cNvSpPr/>
          <p:nvPr/>
        </p:nvSpPr>
        <p:spPr>
          <a:xfrm>
            <a:off x="507987" y="6466284"/>
            <a:ext cx="1117572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FFFFFF"/>
                </a:solidFill>
                <a:latin typeface="Inter Tight" pitchFamily="34" charset="0"/>
                <a:ea typeface="Inter Tight" pitchFamily="34" charset="-122"/>
                <a:cs typeface="Inter Tight" pitchFamily="34" charset="0"/>
              </a:rPr>
              <a:t>Success = a smaller model, nearly unchanged accuracy, and an honest measurement of real-world speed.</a:t>
            </a:r>
            <a:endParaRPr lang="en-US" sz="1900" dirty="0"/>
          </a:p>
        </p:txBody>
      </p:sp>
      <p:sp>
        <p:nvSpPr>
          <p:cNvPr id="28" name="Shape 21"/>
          <p:cNvSpPr/>
          <p:nvPr/>
        </p:nvSpPr>
        <p:spPr>
          <a:xfrm>
            <a:off x="7943651" y="254000"/>
            <a:ext cx="12700" cy="2969816"/>
          </a:xfrm>
          <a:prstGeom prst="rect">
            <a:avLst/>
          </a:prstGeom>
          <a:solidFill>
            <a:srgbClr val="A186F3"/>
          </a:solidFill>
          <a:ln/>
        </p:spPr>
      </p:sp>
      <p:sp>
        <p:nvSpPr>
          <p:cNvPr id="29" name="Shape 22"/>
          <p:cNvSpPr/>
          <p:nvPr/>
        </p:nvSpPr>
        <p:spPr>
          <a:xfrm>
            <a:off x="4165496" y="3217466"/>
            <a:ext cx="3784505" cy="12700"/>
          </a:xfrm>
          <a:prstGeom prst="rect">
            <a:avLst/>
          </a:prstGeom>
          <a:solidFill>
            <a:srgbClr val="A186F3"/>
          </a:solidFill>
          <a:ln/>
        </p:spPr>
      </p:sp>
      <p:sp>
        <p:nvSpPr>
          <p:cNvPr id="30" name="Shape 23"/>
          <p:cNvSpPr/>
          <p:nvPr/>
        </p:nvSpPr>
        <p:spPr>
          <a:xfrm>
            <a:off x="7943651" y="3223816"/>
            <a:ext cx="12700" cy="2969816"/>
          </a:xfrm>
          <a:prstGeom prst="rect">
            <a:avLst/>
          </a:prstGeom>
          <a:solidFill>
            <a:srgbClr val="A186F3"/>
          </a:solidFill>
          <a:ln/>
        </p:spPr>
      </p:sp>
      <p:sp>
        <p:nvSpPr>
          <p:cNvPr id="31" name="Shape 24"/>
          <p:cNvSpPr/>
          <p:nvPr/>
        </p:nvSpPr>
        <p:spPr>
          <a:xfrm>
            <a:off x="7950001" y="3217466"/>
            <a:ext cx="3784505" cy="12700"/>
          </a:xfrm>
          <a:prstGeom prst="rect">
            <a:avLst/>
          </a:prstGeom>
          <a:solidFill>
            <a:srgbClr val="A186F3"/>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4470288" cy="6858000"/>
          </a:xfrm>
          <a:prstGeom prst="rect">
            <a:avLst/>
          </a:prstGeom>
          <a:solidFill>
            <a:srgbClr val="34206F"/>
          </a:solidFill>
          <a:ln/>
        </p:spPr>
      </p:sp>
      <p:sp>
        <p:nvSpPr>
          <p:cNvPr id="3" name="Text 1"/>
          <p:cNvSpPr/>
          <p:nvPr/>
        </p:nvSpPr>
        <p:spPr>
          <a:xfrm>
            <a:off x="380990" y="388620"/>
            <a:ext cx="4089298"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0"/>
              </a:rPr>
              <a:t>04 / PURPOSE AND MOTIVATION</a:t>
            </a:r>
            <a:endParaRPr lang="en-US" sz="1300" dirty="0"/>
          </a:p>
        </p:txBody>
      </p:sp>
      <p:sp>
        <p:nvSpPr>
          <p:cNvPr id="4" name="Text 2"/>
          <p:cNvSpPr/>
          <p:nvPr/>
        </p:nvSpPr>
        <p:spPr>
          <a:xfrm>
            <a:off x="380990" y="700897"/>
            <a:ext cx="3708307" cy="1066800"/>
          </a:xfrm>
          <a:prstGeom prst="rect">
            <a:avLst/>
          </a:prstGeom>
          <a:noFill/>
          <a:ln/>
        </p:spPr>
        <p:txBody>
          <a:bodyPr wrap="square" lIns="0" tIns="0" rIns="0" bIns="0" rtlCol="0" anchor="t">
            <a:normAutofit/>
          </a:bodyPr>
          <a:lstStyle/>
          <a:p>
            <a:pPr algn="l" indent="0" marL="0">
              <a:lnSpc>
                <a:spcPct val="83000"/>
              </a:lnSpc>
              <a:buNone/>
            </a:pPr>
            <a:r>
              <a:rPr lang="en-US" sz="2800" spc="-98" kern="100" dirty="0">
                <a:solidFill>
                  <a:srgbClr val="FFFFFF"/>
                </a:solidFill>
                <a:latin typeface="Inter Tight SemiBold" pitchFamily="34" charset="0"/>
                <a:ea typeface="Inter Tight SemiBold" pitchFamily="34" charset="-122"/>
                <a:cs typeface="Inter Tight SemiBold" pitchFamily="34" charset="0"/>
              </a:rPr>
              <a:t>Why CNN compression matters for efficient deployment</a:t>
            </a:r>
            <a:endParaRPr lang="en-US" sz="2800" dirty="0"/>
          </a:p>
        </p:txBody>
      </p:sp>
      <p:sp>
        <p:nvSpPr>
          <p:cNvPr id="5" name="Text 3"/>
          <p:cNvSpPr/>
          <p:nvPr/>
        </p:nvSpPr>
        <p:spPr>
          <a:xfrm>
            <a:off x="380990" y="3419971"/>
            <a:ext cx="3708307" cy="1856383"/>
          </a:xfrm>
          <a:prstGeom prst="rect">
            <a:avLst/>
          </a:prstGeom>
          <a:noFill/>
          <a:ln/>
        </p:spPr>
        <p:txBody>
          <a:bodyPr wrap="square" lIns="0" tIns="0" rIns="0" bIns="0" rtlCol="0" anchor="t">
            <a:normAutofit/>
          </a:bodyPr>
          <a:lstStyle/>
          <a:p>
            <a:pPr algn="l" marL="345440" indent="-345440">
              <a:lnSpc>
                <a:spcPct val="112000"/>
              </a:lnSpc>
              <a:buSzPct val="100000"/>
              <a:buChar char="•"/>
            </a:pPr>
            <a:r>
              <a:rPr lang="en-US" sz="1500" dirty="0">
                <a:solidFill>
                  <a:srgbClr val="FFFFFF"/>
                </a:solidFill>
                <a:latin typeface="Inter Tight" pitchFamily="34" charset="0"/>
                <a:ea typeface="Inter Tight" pitchFamily="34" charset="-122"/>
                <a:cs typeface="Inter Tight" pitchFamily="34" charset="0"/>
              </a:rPr>
              <a:t>Large models require more memory and computation for deployment.</a:t>
            </a:r>
            <a:endParaRPr lang="en-US" sz="1700" dirty="0"/>
          </a:p>
          <a:p>
            <a:pPr algn="l" marL="345440" indent="-345440">
              <a:lnSpc>
                <a:spcPct val="112000"/>
              </a:lnSpc>
              <a:buSzPct val="100000"/>
              <a:buChar char="•"/>
            </a:pPr>
            <a:r>
              <a:rPr lang="en-US" sz="1500" dirty="0">
                <a:solidFill>
                  <a:srgbClr val="FFFFFF"/>
                </a:solidFill>
                <a:latin typeface="Inter Tight" pitchFamily="34" charset="0"/>
                <a:ea typeface="Inter Tight" pitchFamily="34" charset="-122"/>
                <a:cs typeface="Inter Tight" pitchFamily="34" charset="0"/>
              </a:rPr>
              <a:t>Structured pruning reduces complexity by removing whole channels.</a:t>
            </a:r>
            <a:endParaRPr lang="en-US" sz="1700" dirty="0"/>
          </a:p>
          <a:p>
            <a:pPr algn="l" marL="345440" indent="-345440">
              <a:lnSpc>
                <a:spcPct val="112000"/>
              </a:lnSpc>
              <a:buSzPct val="100000"/>
              <a:buChar char="•"/>
            </a:pPr>
            <a:r>
              <a:rPr lang="en-US" sz="1500" dirty="0">
                <a:solidFill>
                  <a:srgbClr val="FFFFFF"/>
                </a:solidFill>
                <a:latin typeface="Inter Tight" pitchFamily="34" charset="0"/>
                <a:ea typeface="Inter Tight" pitchFamily="34" charset="-122"/>
                <a:cs typeface="Inter Tight" pitchFamily="34" charset="0"/>
              </a:rPr>
              <a:t>Knowledge Distillation may preserve accuracy in the smaller student.</a:t>
            </a:r>
            <a:endParaRPr lang="en-US" sz="1700" dirty="0"/>
          </a:p>
        </p:txBody>
      </p:sp>
      <p:sp>
        <p:nvSpPr>
          <p:cNvPr id="6" name="Shape 4"/>
          <p:cNvSpPr/>
          <p:nvPr/>
        </p:nvSpPr>
        <p:spPr>
          <a:xfrm>
            <a:off x="380990" y="5508129"/>
            <a:ext cx="3708208" cy="38100"/>
          </a:xfrm>
          <a:prstGeom prst="roundRect">
            <a:avLst>
              <a:gd name="adj" fmla="val 49999"/>
            </a:avLst>
          </a:prstGeom>
          <a:solidFill>
            <a:srgbClr val="A186F3"/>
          </a:solidFill>
          <a:ln/>
        </p:spPr>
      </p:sp>
      <p:sp>
        <p:nvSpPr>
          <p:cNvPr id="7" name="Text 5"/>
          <p:cNvSpPr/>
          <p:nvPr/>
        </p:nvSpPr>
        <p:spPr>
          <a:xfrm>
            <a:off x="380990" y="5801499"/>
            <a:ext cx="4089298"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0"/>
              </a:rPr>
              <a:t>WHY THIS MATTERS</a:t>
            </a:r>
            <a:endParaRPr lang="en-US" sz="1300" dirty="0"/>
          </a:p>
        </p:txBody>
      </p:sp>
      <p:sp>
        <p:nvSpPr>
          <p:cNvPr id="8" name="Text 6"/>
          <p:cNvSpPr/>
          <p:nvPr/>
        </p:nvSpPr>
        <p:spPr>
          <a:xfrm>
            <a:off x="380990" y="6193691"/>
            <a:ext cx="4089298" cy="291405"/>
          </a:xfrm>
          <a:prstGeom prst="rect">
            <a:avLst/>
          </a:prstGeom>
          <a:noFill/>
          <a:ln/>
        </p:spPr>
        <p:txBody>
          <a:bodyPr wrap="none" lIns="0" tIns="0" rIns="0" bIns="0" rtlCol="0" anchor="t"/>
          <a:lstStyle/>
          <a:p>
            <a:pPr algn="l" indent="0" marL="0">
              <a:lnSpc>
                <a:spcPct val="112000"/>
              </a:lnSpc>
              <a:buNone/>
            </a:pPr>
            <a:r>
              <a:rPr lang="en-US" sz="1700" b="1" dirty="0">
                <a:solidFill>
                  <a:srgbClr val="FFFFFF"/>
                </a:solidFill>
                <a:latin typeface="Inter Tight Bold" pitchFamily="34" charset="0"/>
                <a:ea typeface="Inter Tight Bold" pitchFamily="34" charset="-122"/>
                <a:cs typeface="Inter Tight Bold" pitchFamily="34" charset="0"/>
              </a:rPr>
              <a:t>Mobile, embedded, and edge devices</a:t>
            </a:r>
            <a:endParaRPr lang="en-US" sz="1700" dirty="0"/>
          </a:p>
        </p:txBody>
      </p:sp>
      <p:sp>
        <p:nvSpPr>
          <p:cNvPr id="9" name="Shape 7"/>
          <p:cNvSpPr/>
          <p:nvPr/>
        </p:nvSpPr>
        <p:spPr>
          <a:xfrm>
            <a:off x="4749681" y="304800"/>
            <a:ext cx="3492413" cy="4368800"/>
          </a:xfrm>
          <a:prstGeom prst="rect">
            <a:avLst/>
          </a:prstGeom>
          <a:solidFill>
            <a:srgbClr val="E6E6EA"/>
          </a:solidFill>
          <a:ln/>
        </p:spPr>
      </p:sp>
      <p:sp>
        <p:nvSpPr>
          <p:cNvPr id="10" name="Text 8"/>
          <p:cNvSpPr/>
          <p:nvPr/>
        </p:nvSpPr>
        <p:spPr>
          <a:xfrm>
            <a:off x="4952876" y="515620"/>
            <a:ext cx="3289218"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000000"/>
                </a:solidFill>
                <a:latin typeface="Fragment Mono" pitchFamily="34" charset="0"/>
                <a:ea typeface="Fragment Mono" pitchFamily="34" charset="-122"/>
                <a:cs typeface="Fragment Mono" pitchFamily="34" charset="0"/>
              </a:rPr>
              <a:t>ORIGINAL CNN</a:t>
            </a:r>
            <a:endParaRPr lang="en-US" sz="1300" dirty="0"/>
          </a:p>
        </p:txBody>
      </p:sp>
      <p:pic>
        <p:nvPicPr>
          <p:cNvPr id="11" name="Image 0" descr="preencoded.png">    </p:cNvPr>
          <p:cNvPicPr>
            <a:picLocks noChangeAspect="1"/>
          </p:cNvPicPr>
          <p:nvPr/>
        </p:nvPicPr>
        <p:blipFill>
          <a:blip r:embed="rId1"/>
          <a:stretch>
            <a:fillRect/>
          </a:stretch>
        </p:blipFill>
        <p:spPr>
          <a:xfrm>
            <a:off x="4952876" y="899716"/>
            <a:ext cx="3086023" cy="736600"/>
          </a:xfrm>
          <a:prstGeom prst="rect">
            <a:avLst/>
          </a:prstGeom>
        </p:spPr>
      </p:pic>
      <p:sp>
        <p:nvSpPr>
          <p:cNvPr id="12" name="Text 9"/>
          <p:cNvSpPr/>
          <p:nvPr/>
        </p:nvSpPr>
        <p:spPr>
          <a:xfrm>
            <a:off x="4952876" y="1829991"/>
            <a:ext cx="3086023" cy="1359297"/>
          </a:xfrm>
          <a:prstGeom prst="rect">
            <a:avLst/>
          </a:prstGeom>
          <a:noFill/>
          <a:ln/>
        </p:spPr>
        <p:txBody>
          <a:bodyPr wrap="square" lIns="0" tIns="0" rIns="0" bIns="0" rtlCol="0" anchor="t">
            <a:normAutofit/>
          </a:bodyPr>
          <a:lstStyle/>
          <a:p>
            <a:pPr algn="l" indent="0" marL="0">
              <a:lnSpc>
                <a:spcPct val="112000"/>
              </a:lnSpc>
              <a:spcAft>
                <a:spcPts val="1500"/>
              </a:spcAft>
              <a:buNone/>
            </a:pPr>
            <a:r>
              <a:rPr lang="en-US" sz="1400" dirty="0">
                <a:solidFill>
                  <a:srgbClr val="000000"/>
                </a:solidFill>
                <a:latin typeface="Inter Tight" pitchFamily="34" charset="0"/>
                <a:ea typeface="Inter Tight" pitchFamily="34" charset="-122"/>
                <a:cs typeface="Inter Tight" pitchFamily="34" charset="0"/>
              </a:rPr>
              <a:t>Large model that needs more memory, computation, and resources.</a:t>
            </a:r>
            <a:endParaRPr lang="en-US" sz="1700" dirty="0"/>
          </a:p>
          <a:p>
            <a:pPr algn="l" indent="0" marL="0">
              <a:lnSpc>
                <a:spcPct val="112000"/>
              </a:lnSpc>
              <a:buNone/>
            </a:pPr>
            <a:r>
              <a:rPr lang="en-US" sz="1400" dirty="0">
                <a:solidFill>
                  <a:srgbClr val="000000"/>
                </a:solidFill>
                <a:latin typeface="Inter Tight" pitchFamily="34" charset="0"/>
                <a:ea typeface="Inter Tight" pitchFamily="34" charset="-122"/>
                <a:cs typeface="Inter Tight" pitchFamily="34" charset="0"/>
              </a:rPr>
              <a:t>Memory use · Computation · Energy demand · Deployment difficulty</a:t>
            </a:r>
            <a:endParaRPr lang="en-US" sz="1700" dirty="0"/>
          </a:p>
        </p:txBody>
      </p:sp>
      <p:sp>
        <p:nvSpPr>
          <p:cNvPr id="13" name="Shape 10"/>
          <p:cNvSpPr/>
          <p:nvPr/>
        </p:nvSpPr>
        <p:spPr>
          <a:xfrm>
            <a:off x="8394490" y="304800"/>
            <a:ext cx="3492413" cy="4368800"/>
          </a:xfrm>
          <a:prstGeom prst="rect">
            <a:avLst/>
          </a:prstGeom>
          <a:solidFill>
            <a:srgbClr val="E2DAFB"/>
          </a:solidFill>
          <a:ln/>
        </p:spPr>
      </p:sp>
      <p:sp>
        <p:nvSpPr>
          <p:cNvPr id="14" name="Text 11"/>
          <p:cNvSpPr/>
          <p:nvPr/>
        </p:nvSpPr>
        <p:spPr>
          <a:xfrm>
            <a:off x="8597685" y="515620"/>
            <a:ext cx="3289218"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000000"/>
                </a:solidFill>
                <a:latin typeface="Fragment Mono" pitchFamily="34" charset="0"/>
                <a:ea typeface="Fragment Mono" pitchFamily="34" charset="-122"/>
                <a:cs typeface="Fragment Mono" pitchFamily="34" charset="0"/>
              </a:rPr>
              <a:t>PRUNED CNN</a:t>
            </a:r>
            <a:endParaRPr lang="en-US" sz="1300" dirty="0"/>
          </a:p>
        </p:txBody>
      </p:sp>
      <p:pic>
        <p:nvPicPr>
          <p:cNvPr id="15" name="Image 1" descr="preencoded.png">    </p:cNvPr>
          <p:cNvPicPr>
            <a:picLocks noChangeAspect="1"/>
          </p:cNvPicPr>
          <p:nvPr/>
        </p:nvPicPr>
        <p:blipFill>
          <a:blip r:embed="rId2"/>
          <a:stretch>
            <a:fillRect/>
          </a:stretch>
        </p:blipFill>
        <p:spPr>
          <a:xfrm>
            <a:off x="8597685" y="899716"/>
            <a:ext cx="3086023" cy="736600"/>
          </a:xfrm>
          <a:prstGeom prst="rect">
            <a:avLst/>
          </a:prstGeom>
        </p:spPr>
      </p:pic>
      <p:sp>
        <p:nvSpPr>
          <p:cNvPr id="16" name="Text 12"/>
          <p:cNvSpPr/>
          <p:nvPr/>
        </p:nvSpPr>
        <p:spPr>
          <a:xfrm>
            <a:off x="8597685" y="1829991"/>
            <a:ext cx="3086023" cy="2233513"/>
          </a:xfrm>
          <a:prstGeom prst="rect">
            <a:avLst/>
          </a:prstGeom>
          <a:noFill/>
          <a:ln/>
        </p:spPr>
        <p:txBody>
          <a:bodyPr wrap="square" lIns="0" tIns="0" rIns="0" bIns="0" rtlCol="0" anchor="t">
            <a:normAutofit/>
          </a:bodyPr>
          <a:lstStyle/>
          <a:p>
            <a:pPr algn="l" indent="0" marL="0">
              <a:lnSpc>
                <a:spcPct val="112000"/>
              </a:lnSpc>
              <a:spcAft>
                <a:spcPts val="1500"/>
              </a:spcAft>
              <a:buNone/>
            </a:pPr>
            <a:r>
              <a:rPr lang="en-US" sz="1400" b="1" dirty="0">
                <a:solidFill>
                  <a:srgbClr val="000000"/>
                </a:solidFill>
                <a:latin typeface="Inter Tight Bold" pitchFamily="34" charset="0"/>
                <a:ea typeface="Inter Tight Bold" pitchFamily="34" charset="-122"/>
                <a:cs typeface="Inter Tight Bold" pitchFamily="34" charset="0"/>
              </a:rPr>
              <a:t>Structured pruning removes selected channels and reduces complexity; Knowledge Distillation may preserve accuracy.</a:t>
            </a:r>
            <a:endParaRPr lang="en-US" sz="1700" dirty="0"/>
          </a:p>
          <a:p>
            <a:pPr algn="l" indent="0" marL="0">
              <a:lnSpc>
                <a:spcPct val="112000"/>
              </a:lnSpc>
              <a:buNone/>
            </a:pPr>
            <a:r>
              <a:rPr lang="en-US" sz="1400" dirty="0">
                <a:solidFill>
                  <a:srgbClr val="000000"/>
                </a:solidFill>
                <a:latin typeface="Inter Tight" pitchFamily="34" charset="0"/>
                <a:ea typeface="Inter Tight" pitchFamily="34" charset="-122"/>
                <a:cs typeface="Inter Tight" pitchFamily="34" charset="0"/>
              </a:rPr>
              <a:t>Whole channels create a smaller dense network; the student learns from the teacher after compression.</a:t>
            </a:r>
            <a:endParaRPr lang="en-US" sz="1700" dirty="0"/>
          </a:p>
        </p:txBody>
      </p:sp>
      <p:sp>
        <p:nvSpPr>
          <p:cNvPr id="17" name="Shape 13"/>
          <p:cNvSpPr/>
          <p:nvPr/>
        </p:nvSpPr>
        <p:spPr>
          <a:xfrm>
            <a:off x="4749681" y="4825901"/>
            <a:ext cx="7137221" cy="1727299"/>
          </a:xfrm>
          <a:prstGeom prst="rect">
            <a:avLst/>
          </a:prstGeom>
          <a:solidFill>
            <a:srgbClr val="A186F3"/>
          </a:solidFill>
          <a:ln/>
        </p:spPr>
      </p:sp>
      <p:sp>
        <p:nvSpPr>
          <p:cNvPr id="18" name="Text 14"/>
          <p:cNvSpPr/>
          <p:nvPr/>
        </p:nvSpPr>
        <p:spPr>
          <a:xfrm>
            <a:off x="5003675" y="4967367"/>
            <a:ext cx="6883228"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000000"/>
                </a:solidFill>
                <a:latin typeface="Fragment Mono" pitchFamily="34" charset="0"/>
                <a:ea typeface="Fragment Mono" pitchFamily="34" charset="-122"/>
                <a:cs typeface="Fragment Mono" pitchFamily="34" charset="0"/>
              </a:rPr>
              <a:t>CAUTION</a:t>
            </a:r>
            <a:endParaRPr lang="en-US" sz="1300" dirty="0"/>
          </a:p>
        </p:txBody>
      </p:sp>
      <p:sp>
        <p:nvSpPr>
          <p:cNvPr id="19" name="Text 15"/>
          <p:cNvSpPr/>
          <p:nvPr/>
        </p:nvSpPr>
        <p:spPr>
          <a:xfrm>
            <a:off x="5003675" y="5351462"/>
            <a:ext cx="6629234" cy="1067891"/>
          </a:xfrm>
          <a:prstGeom prst="rect">
            <a:avLst/>
          </a:prstGeom>
          <a:noFill/>
          <a:ln/>
        </p:spPr>
        <p:txBody>
          <a:bodyPr wrap="square" lIns="0" tIns="0" rIns="0" bIns="0" rtlCol="0" anchor="t"/>
          <a:lstStyle/>
          <a:p>
            <a:pPr algn="l" indent="0" marL="0">
              <a:lnSpc>
                <a:spcPct val="112000"/>
              </a:lnSpc>
              <a:spcAft>
                <a:spcPts val="1500"/>
              </a:spcAft>
              <a:buNone/>
            </a:pPr>
            <a:r>
              <a:rPr lang="en-US" sz="1700" b="1" dirty="0">
                <a:solidFill>
                  <a:srgbClr val="000000"/>
                </a:solidFill>
                <a:latin typeface="Inter Tight Bold" pitchFamily="34" charset="0"/>
                <a:ea typeface="Inter Tight Bold" pitchFamily="34" charset="-122"/>
                <a:cs typeface="Inter Tight Bold" pitchFamily="34" charset="0"/>
              </a:rPr>
              <a:t>Lower MACs do not automatically guarantee lower latency.</a:t>
            </a:r>
            <a:endParaRPr lang="en-US" sz="1700" dirty="0"/>
          </a:p>
          <a:p>
            <a:pPr algn="l" indent="0" marL="0">
              <a:lnSpc>
                <a:spcPct val="112000"/>
              </a:lnSpc>
              <a:buNone/>
            </a:pPr>
            <a:r>
              <a:rPr lang="en-US" sz="1400" dirty="0">
                <a:solidFill>
                  <a:srgbClr val="000000"/>
                </a:solidFill>
                <a:latin typeface="Inter Tight" pitchFamily="34" charset="0"/>
                <a:ea typeface="Inter Tight" pitchFamily="34" charset="-122"/>
                <a:cs typeface="Inter Tight" pitchFamily="34" charset="0"/>
              </a:rPr>
              <a:t>Fewer operations do not automatically mean faster inference; latency must be measured.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414020"/>
            <a:ext cx="7111822"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0"/>
              </a:rPr>
              <a:t>05 / DATASET</a:t>
            </a:r>
            <a:endParaRPr lang="en-US" sz="1300" dirty="0"/>
          </a:p>
        </p:txBody>
      </p:sp>
      <p:sp>
        <p:nvSpPr>
          <p:cNvPr id="3" name="Text 1"/>
          <p:cNvSpPr/>
          <p:nvPr/>
        </p:nvSpPr>
        <p:spPr>
          <a:xfrm>
            <a:off x="609585" y="731084"/>
            <a:ext cx="6654634" cy="762000"/>
          </a:xfrm>
          <a:prstGeom prst="rect">
            <a:avLst/>
          </a:prstGeom>
          <a:noFill/>
          <a:ln/>
        </p:spPr>
        <p:txBody>
          <a:bodyPr wrap="square" lIns="0" tIns="0" rIns="0" bIns="0" rtlCol="0" anchor="t">
            <a:normAutofit/>
          </a:bodyPr>
          <a:lstStyle/>
          <a:p>
            <a:pPr algn="l" indent="0" marL="0">
              <a:lnSpc>
                <a:spcPct val="83000"/>
              </a:lnSpc>
              <a:buNone/>
            </a:pPr>
            <a:r>
              <a:rPr lang="en-US" sz="3000" spc="-105" kern="100" dirty="0">
                <a:solidFill>
                  <a:srgbClr val="121212"/>
                </a:solidFill>
                <a:latin typeface="Inter Tight SemiBold" pitchFamily="34" charset="0"/>
                <a:ea typeface="Inter Tight SemiBold" pitchFamily="34" charset="-122"/>
                <a:cs typeface="Inter Tight SemiBold" pitchFamily="34" charset="0"/>
              </a:rPr>
              <a:t>CIFAR-10: 60,000 colour images in 10 classes</a:t>
            </a:r>
            <a:endParaRPr lang="en-US" sz="3000" dirty="0"/>
          </a:p>
        </p:txBody>
      </p:sp>
      <p:sp>
        <p:nvSpPr>
          <p:cNvPr id="4" name="Text 2"/>
          <p:cNvSpPr/>
          <p:nvPr/>
        </p:nvSpPr>
        <p:spPr>
          <a:xfrm>
            <a:off x="609585" y="1676162"/>
            <a:ext cx="7111822" cy="291405"/>
          </a:xfrm>
          <a:prstGeom prst="rect">
            <a:avLst/>
          </a:prstGeom>
          <a:noFill/>
          <a:ln/>
        </p:spPr>
        <p:txBody>
          <a:bodyPr wrap="none" lIns="0" tIns="0" rIns="0" bIns="0" rtlCol="0" anchor="t"/>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0"/>
              </a:rPr>
              <a:t>Each image is 32×32 pixels, split into training, validation, and test sets.</a:t>
            </a:r>
            <a:endParaRPr lang="en-US" sz="1700" dirty="0"/>
          </a:p>
        </p:txBody>
      </p:sp>
      <p:sp>
        <p:nvSpPr>
          <p:cNvPr id="5" name="Shape 3"/>
          <p:cNvSpPr/>
          <p:nvPr/>
        </p:nvSpPr>
        <p:spPr>
          <a:xfrm>
            <a:off x="609585" y="3226594"/>
            <a:ext cx="4990975" cy="629841"/>
          </a:xfrm>
          <a:prstGeom prst="rect">
            <a:avLst/>
          </a:prstGeom>
          <a:solidFill>
            <a:srgbClr val="34206F"/>
          </a:solidFill>
          <a:ln/>
        </p:spPr>
      </p:sp>
      <p:sp>
        <p:nvSpPr>
          <p:cNvPr id="6" name="Text 4"/>
          <p:cNvSpPr/>
          <p:nvPr/>
        </p:nvSpPr>
        <p:spPr>
          <a:xfrm>
            <a:off x="812780" y="3412014"/>
            <a:ext cx="4787780" cy="274241"/>
          </a:xfrm>
          <a:prstGeom prst="rect">
            <a:avLst/>
          </a:prstGeom>
          <a:noFill/>
          <a:ln/>
        </p:spPr>
        <p:txBody>
          <a:bodyPr wrap="none" lIns="0" tIns="0" rIns="0" bIns="0" rtlCol="0" anchor="t"/>
          <a:lstStyle/>
          <a:p>
            <a:pPr algn="l" indent="0" marL="0">
              <a:lnSpc>
                <a:spcPct val="113000"/>
              </a:lnSpc>
              <a:buNone/>
            </a:pPr>
            <a:r>
              <a:rPr lang="en-US" sz="1600" b="1" dirty="0">
                <a:solidFill>
                  <a:srgbClr val="FFFFFF"/>
                </a:solidFill>
                <a:latin typeface="Inter Tight Bold" pitchFamily="34" charset="0"/>
                <a:ea typeface="Inter Tight Bold" pitchFamily="34" charset="-122"/>
                <a:cs typeface="Inter Tight Bold" pitchFamily="34" charset="0"/>
              </a:rPr>
              <a:t>Training 75%</a:t>
            </a:r>
            <a:endParaRPr lang="en-US" sz="1600" dirty="0"/>
          </a:p>
        </p:txBody>
      </p:sp>
      <p:sp>
        <p:nvSpPr>
          <p:cNvPr id="7" name="Shape 5"/>
          <p:cNvSpPr/>
          <p:nvPr/>
        </p:nvSpPr>
        <p:spPr>
          <a:xfrm>
            <a:off x="5600560" y="3226594"/>
            <a:ext cx="554520" cy="629841"/>
          </a:xfrm>
          <a:prstGeom prst="rect">
            <a:avLst/>
          </a:prstGeom>
          <a:solidFill>
            <a:srgbClr val="A186F3"/>
          </a:solidFill>
          <a:ln/>
        </p:spPr>
      </p:sp>
      <p:sp>
        <p:nvSpPr>
          <p:cNvPr id="8" name="Text 6"/>
          <p:cNvSpPr/>
          <p:nvPr/>
        </p:nvSpPr>
        <p:spPr>
          <a:xfrm>
            <a:off x="5600560" y="3412014"/>
            <a:ext cx="554520" cy="274241"/>
          </a:xfrm>
          <a:prstGeom prst="rect">
            <a:avLst/>
          </a:prstGeom>
          <a:noFill/>
          <a:ln/>
        </p:spPr>
        <p:txBody>
          <a:bodyPr wrap="none" lIns="0" tIns="0" rIns="0" bIns="0" rtlCol="0" anchor="t"/>
          <a:lstStyle/>
          <a:p>
            <a:pPr algn="ctr" indent="0" marL="0">
              <a:lnSpc>
                <a:spcPct val="113000"/>
              </a:lnSpc>
              <a:buNone/>
            </a:pPr>
            <a:r>
              <a:rPr lang="en-US" sz="1600" b="1" dirty="0">
                <a:solidFill>
                  <a:srgbClr val="000000"/>
                </a:solidFill>
                <a:latin typeface="Inter Tight Bold" pitchFamily="34" charset="0"/>
                <a:ea typeface="Inter Tight Bold" pitchFamily="34" charset="-122"/>
                <a:cs typeface="Inter Tight Bold" pitchFamily="34" charset="0"/>
              </a:rPr>
              <a:t>8%</a:t>
            </a:r>
            <a:endParaRPr lang="en-US" sz="1600" dirty="0"/>
          </a:p>
        </p:txBody>
      </p:sp>
      <p:sp>
        <p:nvSpPr>
          <p:cNvPr id="9" name="Shape 7"/>
          <p:cNvSpPr/>
          <p:nvPr/>
        </p:nvSpPr>
        <p:spPr>
          <a:xfrm>
            <a:off x="6155080" y="3226594"/>
            <a:ext cx="1109139" cy="629841"/>
          </a:xfrm>
          <a:prstGeom prst="rect">
            <a:avLst/>
          </a:prstGeom>
          <a:solidFill>
            <a:srgbClr val="E2DAFB"/>
          </a:solidFill>
          <a:ln/>
        </p:spPr>
      </p:sp>
      <p:sp>
        <p:nvSpPr>
          <p:cNvPr id="10" name="Text 8"/>
          <p:cNvSpPr/>
          <p:nvPr/>
        </p:nvSpPr>
        <p:spPr>
          <a:xfrm>
            <a:off x="6155080" y="3412014"/>
            <a:ext cx="1109139" cy="274241"/>
          </a:xfrm>
          <a:prstGeom prst="rect">
            <a:avLst/>
          </a:prstGeom>
          <a:noFill/>
          <a:ln/>
        </p:spPr>
        <p:txBody>
          <a:bodyPr wrap="none" lIns="0" tIns="0" rIns="0" bIns="0" rtlCol="0" anchor="t"/>
          <a:lstStyle/>
          <a:p>
            <a:pPr algn="ctr" indent="0" marL="0">
              <a:lnSpc>
                <a:spcPct val="113000"/>
              </a:lnSpc>
              <a:buNone/>
            </a:pPr>
            <a:r>
              <a:rPr lang="en-US" sz="1600" b="1" dirty="0">
                <a:solidFill>
                  <a:srgbClr val="000000"/>
                </a:solidFill>
                <a:latin typeface="Inter Tight Bold" pitchFamily="34" charset="0"/>
                <a:ea typeface="Inter Tight Bold" pitchFamily="34" charset="-122"/>
                <a:cs typeface="Inter Tight Bold" pitchFamily="34" charset="0"/>
              </a:rPr>
              <a:t>Test 17%</a:t>
            </a:r>
            <a:endParaRPr lang="en-US" sz="1600" dirty="0"/>
          </a:p>
        </p:txBody>
      </p:sp>
      <p:sp>
        <p:nvSpPr>
          <p:cNvPr id="11" name="Shape 9"/>
          <p:cNvSpPr/>
          <p:nvPr/>
        </p:nvSpPr>
        <p:spPr>
          <a:xfrm>
            <a:off x="609585" y="3983434"/>
            <a:ext cx="2116581" cy="969566"/>
          </a:xfrm>
          <a:prstGeom prst="rect">
            <a:avLst/>
          </a:prstGeom>
          <a:solidFill>
            <a:srgbClr val="34206F"/>
          </a:solidFill>
          <a:ln/>
        </p:spPr>
      </p:sp>
      <p:sp>
        <p:nvSpPr>
          <p:cNvPr id="12" name="Text 10"/>
          <p:cNvSpPr/>
          <p:nvPr/>
        </p:nvSpPr>
        <p:spPr>
          <a:xfrm>
            <a:off x="787380" y="4143454"/>
            <a:ext cx="1938785"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0"/>
              </a:rPr>
              <a:t>TRAINING</a:t>
            </a:r>
            <a:endParaRPr lang="en-US" sz="1300" dirty="0"/>
          </a:p>
        </p:txBody>
      </p:sp>
      <p:sp>
        <p:nvSpPr>
          <p:cNvPr id="13" name="Text 11"/>
          <p:cNvSpPr/>
          <p:nvPr/>
        </p:nvSpPr>
        <p:spPr>
          <a:xfrm>
            <a:off x="787380" y="4433887"/>
            <a:ext cx="1760990"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FFFFFF"/>
                </a:solidFill>
                <a:latin typeface="Inter Tight" pitchFamily="34" charset="0"/>
                <a:ea typeface="Inter Tight" pitchFamily="34" charset="-122"/>
                <a:cs typeface="Inter Tight" pitchFamily="34" charset="0"/>
              </a:rPr>
              <a:t>45,000</a:t>
            </a:r>
            <a:endParaRPr lang="en-US" sz="2400" dirty="0"/>
          </a:p>
        </p:txBody>
      </p:sp>
      <p:sp>
        <p:nvSpPr>
          <p:cNvPr id="14" name="Shape 12"/>
          <p:cNvSpPr/>
          <p:nvPr/>
        </p:nvSpPr>
        <p:spPr>
          <a:xfrm>
            <a:off x="2878562" y="3983434"/>
            <a:ext cx="2116581" cy="969566"/>
          </a:xfrm>
          <a:prstGeom prst="rect">
            <a:avLst/>
          </a:prstGeom>
          <a:solidFill>
            <a:srgbClr val="A186F3"/>
          </a:solidFill>
          <a:ln/>
        </p:spPr>
      </p:sp>
      <p:sp>
        <p:nvSpPr>
          <p:cNvPr id="15" name="Text 13"/>
          <p:cNvSpPr/>
          <p:nvPr/>
        </p:nvSpPr>
        <p:spPr>
          <a:xfrm>
            <a:off x="3056357" y="4143454"/>
            <a:ext cx="1938785"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000000"/>
                </a:solidFill>
                <a:latin typeface="Fragment Mono" pitchFamily="34" charset="0"/>
                <a:ea typeface="Fragment Mono" pitchFamily="34" charset="-122"/>
                <a:cs typeface="Fragment Mono" pitchFamily="34" charset="0"/>
              </a:rPr>
              <a:t>VALIDATION</a:t>
            </a:r>
            <a:endParaRPr lang="en-US" sz="1300" dirty="0"/>
          </a:p>
        </p:txBody>
      </p:sp>
      <p:sp>
        <p:nvSpPr>
          <p:cNvPr id="16" name="Text 14"/>
          <p:cNvSpPr/>
          <p:nvPr/>
        </p:nvSpPr>
        <p:spPr>
          <a:xfrm>
            <a:off x="3056357" y="4433887"/>
            <a:ext cx="1760990"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000000"/>
                </a:solidFill>
                <a:latin typeface="Inter Tight" pitchFamily="34" charset="0"/>
                <a:ea typeface="Inter Tight" pitchFamily="34" charset="-122"/>
                <a:cs typeface="Inter Tight" pitchFamily="34" charset="0"/>
              </a:rPr>
              <a:t>5,000</a:t>
            </a:r>
            <a:endParaRPr lang="en-US" sz="2400" dirty="0"/>
          </a:p>
        </p:txBody>
      </p:sp>
      <p:sp>
        <p:nvSpPr>
          <p:cNvPr id="17" name="Shape 15"/>
          <p:cNvSpPr/>
          <p:nvPr/>
        </p:nvSpPr>
        <p:spPr>
          <a:xfrm>
            <a:off x="5147538" y="3983434"/>
            <a:ext cx="2116680" cy="969566"/>
          </a:xfrm>
          <a:prstGeom prst="rect">
            <a:avLst/>
          </a:prstGeom>
          <a:solidFill>
            <a:srgbClr val="E2DAFB"/>
          </a:solidFill>
          <a:ln/>
        </p:spPr>
      </p:sp>
      <p:sp>
        <p:nvSpPr>
          <p:cNvPr id="18" name="Text 16"/>
          <p:cNvSpPr/>
          <p:nvPr/>
        </p:nvSpPr>
        <p:spPr>
          <a:xfrm>
            <a:off x="5325334" y="4143454"/>
            <a:ext cx="1938884"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000000"/>
                </a:solidFill>
                <a:latin typeface="Fragment Mono" pitchFamily="34" charset="0"/>
                <a:ea typeface="Fragment Mono" pitchFamily="34" charset="-122"/>
                <a:cs typeface="Fragment Mono" pitchFamily="34" charset="0"/>
              </a:rPr>
              <a:t>TESTING</a:t>
            </a:r>
            <a:endParaRPr lang="en-US" sz="1300" dirty="0"/>
          </a:p>
        </p:txBody>
      </p:sp>
      <p:sp>
        <p:nvSpPr>
          <p:cNvPr id="19" name="Text 17"/>
          <p:cNvSpPr/>
          <p:nvPr/>
        </p:nvSpPr>
        <p:spPr>
          <a:xfrm>
            <a:off x="5325334" y="4433887"/>
            <a:ext cx="1761089"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000000"/>
                </a:solidFill>
                <a:latin typeface="Inter Tight" pitchFamily="34" charset="0"/>
                <a:ea typeface="Inter Tight" pitchFamily="34" charset="-122"/>
                <a:cs typeface="Inter Tight" pitchFamily="34" charset="0"/>
              </a:rPr>
              <a:t>10,000</a:t>
            </a:r>
            <a:endParaRPr lang="en-US" sz="2400" dirty="0"/>
          </a:p>
        </p:txBody>
      </p:sp>
      <p:sp>
        <p:nvSpPr>
          <p:cNvPr id="20" name="Shape 18"/>
          <p:cNvSpPr/>
          <p:nvPr/>
        </p:nvSpPr>
        <p:spPr>
          <a:xfrm>
            <a:off x="7721407" y="0"/>
            <a:ext cx="4470288" cy="5257800"/>
          </a:xfrm>
          <a:prstGeom prst="rect">
            <a:avLst/>
          </a:prstGeom>
          <a:solidFill>
            <a:srgbClr val="E2DAFB"/>
          </a:solidFill>
          <a:ln/>
        </p:spPr>
      </p:sp>
      <p:sp>
        <p:nvSpPr>
          <p:cNvPr id="21" name="Text 19"/>
          <p:cNvSpPr/>
          <p:nvPr/>
        </p:nvSpPr>
        <p:spPr>
          <a:xfrm>
            <a:off x="8026199" y="363220"/>
            <a:ext cx="4165496"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000000"/>
                </a:solidFill>
                <a:latin typeface="Fragment Mono" pitchFamily="34" charset="0"/>
                <a:ea typeface="Fragment Mono" pitchFamily="34" charset="-122"/>
                <a:cs typeface="Fragment Mono" pitchFamily="34" charset="0"/>
              </a:rPr>
              <a:t>TOTAL</a:t>
            </a:r>
            <a:endParaRPr lang="en-US" sz="1300" dirty="0"/>
          </a:p>
        </p:txBody>
      </p:sp>
      <p:sp>
        <p:nvSpPr>
          <p:cNvPr id="22" name="Text 20"/>
          <p:cNvSpPr/>
          <p:nvPr/>
        </p:nvSpPr>
        <p:spPr>
          <a:xfrm>
            <a:off x="8026199" y="743808"/>
            <a:ext cx="3860703" cy="1016000"/>
          </a:xfrm>
          <a:prstGeom prst="rect">
            <a:avLst/>
          </a:prstGeom>
          <a:noFill/>
          <a:ln/>
        </p:spPr>
        <p:txBody>
          <a:bodyPr wrap="none" lIns="0" tIns="0" rIns="0" bIns="0" rtlCol="0" anchor="t"/>
          <a:lstStyle/>
          <a:p>
            <a:pPr algn="l" indent="0" marL="0">
              <a:lnSpc>
                <a:spcPct val="83000"/>
              </a:lnSpc>
              <a:buNone/>
            </a:pPr>
            <a:r>
              <a:rPr lang="en-US" sz="8000" spc="-280" kern="100" dirty="0">
                <a:solidFill>
                  <a:srgbClr val="34206F"/>
                </a:solidFill>
                <a:latin typeface="Inter Tight SemiBold" pitchFamily="34" charset="0"/>
                <a:ea typeface="Inter Tight SemiBold" pitchFamily="34" charset="-122"/>
                <a:cs typeface="Inter Tight SemiBold" pitchFamily="34" charset="0"/>
              </a:rPr>
              <a:t>60,000</a:t>
            </a:r>
            <a:endParaRPr lang="en-US" sz="8000" dirty="0"/>
          </a:p>
        </p:txBody>
      </p:sp>
      <p:sp>
        <p:nvSpPr>
          <p:cNvPr id="23" name="Shape 21"/>
          <p:cNvSpPr/>
          <p:nvPr/>
        </p:nvSpPr>
        <p:spPr>
          <a:xfrm>
            <a:off x="8026199" y="2897188"/>
            <a:ext cx="3860703" cy="2005013"/>
          </a:xfrm>
          <a:prstGeom prst="rect">
            <a:avLst/>
          </a:prstGeom>
          <a:solidFill>
            <a:srgbClr val="FFFFFF"/>
          </a:solidFill>
          <a:ln/>
        </p:spPr>
      </p:sp>
      <p:sp>
        <p:nvSpPr>
          <p:cNvPr id="24" name="Text 22"/>
          <p:cNvSpPr/>
          <p:nvPr/>
        </p:nvSpPr>
        <p:spPr>
          <a:xfrm>
            <a:off x="8254793" y="3108008"/>
            <a:ext cx="36321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000000"/>
                </a:solidFill>
                <a:latin typeface="Fragment Mono" pitchFamily="34" charset="0"/>
                <a:ea typeface="Fragment Mono" pitchFamily="34" charset="-122"/>
                <a:cs typeface="Fragment Mono" pitchFamily="34" charset="0"/>
              </a:rPr>
              <a:t>ROLE IN THIS STUDY</a:t>
            </a:r>
            <a:endParaRPr lang="en-US" sz="1300" dirty="0"/>
          </a:p>
        </p:txBody>
      </p:sp>
      <p:sp>
        <p:nvSpPr>
          <p:cNvPr id="25" name="Text 23"/>
          <p:cNvSpPr/>
          <p:nvPr/>
        </p:nvSpPr>
        <p:spPr>
          <a:xfrm>
            <a:off x="8254793" y="3425428"/>
            <a:ext cx="3403515" cy="1273572"/>
          </a:xfrm>
          <a:prstGeom prst="rect">
            <a:avLst/>
          </a:prstGeom>
          <a:noFill/>
          <a:ln/>
        </p:spPr>
        <p:txBody>
          <a:bodyPr wrap="square" lIns="0" tIns="0" rIns="0" bIns="0" rtlCol="0" anchor="t">
            <a:normAutofit/>
          </a:bodyPr>
          <a:lstStyle/>
          <a:p>
            <a:pPr algn="l" marL="345440" indent="-345440">
              <a:lnSpc>
                <a:spcPct val="112000"/>
              </a:lnSpc>
              <a:buSzPct val="100000"/>
              <a:buFont typeface="+mj-lt"/>
              <a:buAutoNum type="arabicPeriod" startAt="1"/>
            </a:pPr>
            <a:r>
              <a:rPr lang="en-US" sz="1700" dirty="0">
                <a:solidFill>
                  <a:srgbClr val="000000"/>
                </a:solidFill>
                <a:latin typeface="Inter Tight" pitchFamily="34" charset="0"/>
                <a:ea typeface="Inter Tight" pitchFamily="34" charset="-122"/>
                <a:cs typeface="Inter Tight" pitchFamily="34" charset="0"/>
              </a:rPr>
              <a:t>Train the teacher</a:t>
            </a:r>
            <a:endParaRPr lang="en-US" sz="1700" dirty="0"/>
          </a:p>
          <a:p>
            <a:pPr algn="l" marL="345440" indent="-345440">
              <a:lnSpc>
                <a:spcPct val="112000"/>
              </a:lnSpc>
              <a:buSzPct val="100000"/>
              <a:buFont typeface="+mj-lt"/>
              <a:buAutoNum type="arabicPeriod" startAt="2"/>
            </a:pPr>
            <a:r>
              <a:rPr lang="en-US" sz="1700" dirty="0">
                <a:solidFill>
                  <a:srgbClr val="000000"/>
                </a:solidFill>
                <a:latin typeface="Inter Tight" pitchFamily="34" charset="0"/>
                <a:ea typeface="Inter Tight" pitchFamily="34" charset="-122"/>
                <a:cs typeface="Inter Tight" pitchFamily="34" charset="0"/>
              </a:rPr>
              <a:t>Evaluate the pruned student</a:t>
            </a:r>
            <a:endParaRPr lang="en-US" sz="1700" dirty="0"/>
          </a:p>
          <a:p>
            <a:pPr algn="l" marL="345440" indent="-345440">
              <a:lnSpc>
                <a:spcPct val="112000"/>
              </a:lnSpc>
              <a:buSzPct val="100000"/>
              <a:buFont typeface="+mj-lt"/>
              <a:buAutoNum type="arabicPeriod" startAt="3"/>
            </a:pPr>
            <a:r>
              <a:rPr lang="en-US" sz="1700" dirty="0">
                <a:solidFill>
                  <a:srgbClr val="000000"/>
                </a:solidFill>
                <a:latin typeface="Inter Tight" pitchFamily="34" charset="0"/>
                <a:ea typeface="Inter Tight" pitchFamily="34" charset="-122"/>
                <a:cs typeface="Inter Tight" pitchFamily="34" charset="0"/>
              </a:rPr>
              <a:t>Compare accuracy and efficiency metrics</a:t>
            </a:r>
            <a:endParaRPr lang="en-US" sz="1700" dirty="0"/>
          </a:p>
        </p:txBody>
      </p:sp>
      <p:sp>
        <p:nvSpPr>
          <p:cNvPr id="26" name="Shape 24"/>
          <p:cNvSpPr/>
          <p:nvPr/>
        </p:nvSpPr>
        <p:spPr>
          <a:xfrm>
            <a:off x="0" y="5257800"/>
            <a:ext cx="12191695" cy="1600200"/>
          </a:xfrm>
          <a:prstGeom prst="rect">
            <a:avLst/>
          </a:prstGeom>
          <a:solidFill>
            <a:srgbClr val="34206F"/>
          </a:solidFill>
          <a:ln/>
        </p:spPr>
      </p:sp>
      <p:pic>
        <p:nvPicPr>
          <p:cNvPr id="27" name="Image 0" descr="preencoded.png">    </p:cNvPr>
          <p:cNvPicPr>
            <a:picLocks noChangeAspect="1"/>
          </p:cNvPicPr>
          <p:nvPr/>
        </p:nvPicPr>
        <p:blipFill>
          <a:blip r:embed="rId1"/>
          <a:stretch>
            <a:fillRect/>
          </a:stretch>
        </p:blipFill>
        <p:spPr>
          <a:xfrm>
            <a:off x="713663" y="5616575"/>
            <a:ext cx="431789" cy="431800"/>
          </a:xfrm>
          <a:prstGeom prst="rect">
            <a:avLst/>
          </a:prstGeom>
        </p:spPr>
      </p:pic>
      <p:sp>
        <p:nvSpPr>
          <p:cNvPr id="28" name="Text 25"/>
          <p:cNvSpPr/>
          <p:nvPr/>
        </p:nvSpPr>
        <p:spPr>
          <a:xfrm>
            <a:off x="355591" y="6244431"/>
            <a:ext cx="1148031" cy="257175"/>
          </a:xfrm>
          <a:prstGeom prst="rect">
            <a:avLst/>
          </a:prstGeom>
          <a:noFill/>
          <a:ln/>
        </p:spPr>
        <p:txBody>
          <a:bodyPr wrap="none" lIns="0" tIns="0" rIns="0" bIns="0" rtlCol="0" anchor="t"/>
          <a:lstStyle/>
          <a:p>
            <a:pPr algn="ctr" indent="0" marL="0">
              <a:lnSpc>
                <a:spcPct val="113000"/>
              </a:lnSpc>
              <a:buNone/>
            </a:pPr>
            <a:r>
              <a:rPr lang="en-US" sz="1500" dirty="0">
                <a:solidFill>
                  <a:srgbClr val="FFFFFF"/>
                </a:solidFill>
                <a:latin typeface="Inter Tight" pitchFamily="34" charset="0"/>
                <a:ea typeface="Inter Tight" pitchFamily="34" charset="-122"/>
                <a:cs typeface="Inter Tight" pitchFamily="34" charset="0"/>
              </a:rPr>
              <a:t>Airplane</a:t>
            </a:r>
            <a:endParaRPr lang="en-US" sz="1500" dirty="0"/>
          </a:p>
        </p:txBody>
      </p:sp>
      <p:pic>
        <p:nvPicPr>
          <p:cNvPr id="29" name="Image 1" descr="preencoded.png">    </p:cNvPr>
          <p:cNvPicPr>
            <a:picLocks noChangeAspect="1"/>
          </p:cNvPicPr>
          <p:nvPr/>
        </p:nvPicPr>
        <p:blipFill>
          <a:blip r:embed="rId2"/>
          <a:stretch>
            <a:fillRect/>
          </a:stretch>
        </p:blipFill>
        <p:spPr>
          <a:xfrm>
            <a:off x="1861694" y="5616575"/>
            <a:ext cx="431789" cy="431800"/>
          </a:xfrm>
          <a:prstGeom prst="rect">
            <a:avLst/>
          </a:prstGeom>
        </p:spPr>
      </p:pic>
      <p:sp>
        <p:nvSpPr>
          <p:cNvPr id="30" name="Text 26"/>
          <p:cNvSpPr/>
          <p:nvPr/>
        </p:nvSpPr>
        <p:spPr>
          <a:xfrm>
            <a:off x="1503623" y="6244431"/>
            <a:ext cx="1148031" cy="257175"/>
          </a:xfrm>
          <a:prstGeom prst="rect">
            <a:avLst/>
          </a:prstGeom>
          <a:noFill/>
          <a:ln/>
        </p:spPr>
        <p:txBody>
          <a:bodyPr wrap="none" lIns="0" tIns="0" rIns="0" bIns="0" rtlCol="0" anchor="t"/>
          <a:lstStyle/>
          <a:p>
            <a:pPr algn="ctr" indent="0" marL="0">
              <a:lnSpc>
                <a:spcPct val="113000"/>
              </a:lnSpc>
              <a:buNone/>
            </a:pPr>
            <a:r>
              <a:rPr lang="en-US" sz="1500" dirty="0">
                <a:solidFill>
                  <a:srgbClr val="FFFFFF"/>
                </a:solidFill>
                <a:latin typeface="Inter Tight" pitchFamily="34" charset="0"/>
                <a:ea typeface="Inter Tight" pitchFamily="34" charset="-122"/>
                <a:cs typeface="Inter Tight" pitchFamily="34" charset="0"/>
              </a:rPr>
              <a:t>Automobile</a:t>
            </a:r>
            <a:endParaRPr lang="en-US" sz="1500" dirty="0"/>
          </a:p>
        </p:txBody>
      </p:sp>
      <p:pic>
        <p:nvPicPr>
          <p:cNvPr id="31" name="Image 2" descr="preencoded.png">    </p:cNvPr>
          <p:cNvPicPr>
            <a:picLocks noChangeAspect="1"/>
          </p:cNvPicPr>
          <p:nvPr/>
        </p:nvPicPr>
        <p:blipFill>
          <a:blip r:embed="rId3"/>
          <a:stretch>
            <a:fillRect/>
          </a:stretch>
        </p:blipFill>
        <p:spPr>
          <a:xfrm>
            <a:off x="3009725" y="5616575"/>
            <a:ext cx="431789" cy="431800"/>
          </a:xfrm>
          <a:prstGeom prst="rect">
            <a:avLst/>
          </a:prstGeom>
        </p:spPr>
      </p:pic>
      <p:sp>
        <p:nvSpPr>
          <p:cNvPr id="32" name="Text 27"/>
          <p:cNvSpPr/>
          <p:nvPr/>
        </p:nvSpPr>
        <p:spPr>
          <a:xfrm>
            <a:off x="2762379" y="6244431"/>
            <a:ext cx="926581" cy="257175"/>
          </a:xfrm>
          <a:prstGeom prst="rect">
            <a:avLst/>
          </a:prstGeom>
          <a:noFill/>
          <a:ln/>
        </p:spPr>
        <p:txBody>
          <a:bodyPr wrap="none" lIns="0" tIns="0" rIns="0" bIns="0" rtlCol="0" anchor="t"/>
          <a:lstStyle/>
          <a:p>
            <a:pPr algn="ctr" indent="0" marL="0">
              <a:lnSpc>
                <a:spcPct val="113000"/>
              </a:lnSpc>
              <a:buNone/>
            </a:pPr>
            <a:r>
              <a:rPr lang="en-US" sz="1500" dirty="0">
                <a:solidFill>
                  <a:srgbClr val="FFFFFF"/>
                </a:solidFill>
                <a:latin typeface="Inter Tight" pitchFamily="34" charset="0"/>
                <a:ea typeface="Inter Tight" pitchFamily="34" charset="-122"/>
                <a:cs typeface="Inter Tight" pitchFamily="34" charset="0"/>
              </a:rPr>
              <a:t>Bird</a:t>
            </a:r>
            <a:endParaRPr lang="en-US" sz="1500" dirty="0"/>
          </a:p>
        </p:txBody>
      </p:sp>
      <p:pic>
        <p:nvPicPr>
          <p:cNvPr id="33" name="Image 3" descr="preencoded.png">    </p:cNvPr>
          <p:cNvPicPr>
            <a:picLocks noChangeAspect="1"/>
          </p:cNvPicPr>
          <p:nvPr/>
        </p:nvPicPr>
        <p:blipFill>
          <a:blip r:embed="rId4"/>
          <a:stretch>
            <a:fillRect/>
          </a:stretch>
        </p:blipFill>
        <p:spPr>
          <a:xfrm>
            <a:off x="4157757" y="5616575"/>
            <a:ext cx="431789" cy="431800"/>
          </a:xfrm>
          <a:prstGeom prst="rect">
            <a:avLst/>
          </a:prstGeom>
        </p:spPr>
      </p:pic>
      <p:sp>
        <p:nvSpPr>
          <p:cNvPr id="34" name="Text 28"/>
          <p:cNvSpPr/>
          <p:nvPr/>
        </p:nvSpPr>
        <p:spPr>
          <a:xfrm>
            <a:off x="3924599" y="6244431"/>
            <a:ext cx="898205" cy="257175"/>
          </a:xfrm>
          <a:prstGeom prst="rect">
            <a:avLst/>
          </a:prstGeom>
          <a:noFill/>
          <a:ln/>
        </p:spPr>
        <p:txBody>
          <a:bodyPr wrap="none" lIns="0" tIns="0" rIns="0" bIns="0" rtlCol="0" anchor="t"/>
          <a:lstStyle/>
          <a:p>
            <a:pPr algn="ctr" indent="0" marL="0">
              <a:lnSpc>
                <a:spcPct val="113000"/>
              </a:lnSpc>
              <a:buNone/>
            </a:pPr>
            <a:r>
              <a:rPr lang="en-US" sz="1500" dirty="0">
                <a:solidFill>
                  <a:srgbClr val="FFFFFF"/>
                </a:solidFill>
                <a:latin typeface="Inter Tight" pitchFamily="34" charset="0"/>
                <a:ea typeface="Inter Tight" pitchFamily="34" charset="-122"/>
                <a:cs typeface="Inter Tight" pitchFamily="34" charset="0"/>
              </a:rPr>
              <a:t>Cat</a:t>
            </a:r>
            <a:endParaRPr lang="en-US" sz="1500" dirty="0"/>
          </a:p>
        </p:txBody>
      </p:sp>
      <p:pic>
        <p:nvPicPr>
          <p:cNvPr id="35" name="Image 4" descr="preencoded.png">    </p:cNvPr>
          <p:cNvPicPr>
            <a:picLocks noChangeAspect="1"/>
          </p:cNvPicPr>
          <p:nvPr/>
        </p:nvPicPr>
        <p:blipFill>
          <a:blip r:embed="rId5"/>
          <a:stretch>
            <a:fillRect/>
          </a:stretch>
        </p:blipFill>
        <p:spPr>
          <a:xfrm>
            <a:off x="5305888" y="5616575"/>
            <a:ext cx="431789" cy="431800"/>
          </a:xfrm>
          <a:prstGeom prst="rect">
            <a:avLst/>
          </a:prstGeom>
        </p:spPr>
      </p:pic>
      <p:sp>
        <p:nvSpPr>
          <p:cNvPr id="36" name="Text 29"/>
          <p:cNvSpPr/>
          <p:nvPr/>
        </p:nvSpPr>
        <p:spPr>
          <a:xfrm>
            <a:off x="5020442" y="6244431"/>
            <a:ext cx="1002680" cy="257175"/>
          </a:xfrm>
          <a:prstGeom prst="rect">
            <a:avLst/>
          </a:prstGeom>
          <a:noFill/>
          <a:ln/>
        </p:spPr>
        <p:txBody>
          <a:bodyPr wrap="none" lIns="0" tIns="0" rIns="0" bIns="0" rtlCol="0" anchor="t"/>
          <a:lstStyle/>
          <a:p>
            <a:pPr algn="ctr" indent="0" marL="0">
              <a:lnSpc>
                <a:spcPct val="113000"/>
              </a:lnSpc>
              <a:buNone/>
            </a:pPr>
            <a:r>
              <a:rPr lang="en-US" sz="1500" dirty="0">
                <a:solidFill>
                  <a:srgbClr val="FFFFFF"/>
                </a:solidFill>
                <a:latin typeface="Inter Tight" pitchFamily="34" charset="0"/>
                <a:ea typeface="Inter Tight" pitchFamily="34" charset="-122"/>
                <a:cs typeface="Inter Tight" pitchFamily="34" charset="0"/>
              </a:rPr>
              <a:t>Deer</a:t>
            </a:r>
            <a:endParaRPr lang="en-US" sz="1500" dirty="0"/>
          </a:p>
        </p:txBody>
      </p:sp>
      <p:pic>
        <p:nvPicPr>
          <p:cNvPr id="37" name="Image 5" descr="preencoded.png">    </p:cNvPr>
          <p:cNvPicPr>
            <a:picLocks noChangeAspect="1"/>
          </p:cNvPicPr>
          <p:nvPr/>
        </p:nvPicPr>
        <p:blipFill>
          <a:blip r:embed="rId6"/>
          <a:stretch>
            <a:fillRect/>
          </a:stretch>
        </p:blipFill>
        <p:spPr>
          <a:xfrm>
            <a:off x="6453919" y="5616575"/>
            <a:ext cx="431789" cy="431800"/>
          </a:xfrm>
          <a:prstGeom prst="rect">
            <a:avLst/>
          </a:prstGeom>
        </p:spPr>
      </p:pic>
      <p:sp>
        <p:nvSpPr>
          <p:cNvPr id="38" name="Text 30"/>
          <p:cNvSpPr/>
          <p:nvPr/>
        </p:nvSpPr>
        <p:spPr>
          <a:xfrm>
            <a:off x="6195064" y="6244431"/>
            <a:ext cx="949500" cy="257175"/>
          </a:xfrm>
          <a:prstGeom prst="rect">
            <a:avLst/>
          </a:prstGeom>
          <a:noFill/>
          <a:ln/>
        </p:spPr>
        <p:txBody>
          <a:bodyPr wrap="none" lIns="0" tIns="0" rIns="0" bIns="0" rtlCol="0" anchor="t"/>
          <a:lstStyle/>
          <a:p>
            <a:pPr algn="ctr" indent="0" marL="0">
              <a:lnSpc>
                <a:spcPct val="113000"/>
              </a:lnSpc>
              <a:buNone/>
            </a:pPr>
            <a:r>
              <a:rPr lang="en-US" sz="1500" dirty="0">
                <a:solidFill>
                  <a:srgbClr val="FFFFFF"/>
                </a:solidFill>
                <a:latin typeface="Inter Tight" pitchFamily="34" charset="0"/>
                <a:ea typeface="Inter Tight" pitchFamily="34" charset="-122"/>
                <a:cs typeface="Inter Tight" pitchFamily="34" charset="0"/>
              </a:rPr>
              <a:t>Dog</a:t>
            </a:r>
            <a:endParaRPr lang="en-US" sz="1500" dirty="0"/>
          </a:p>
        </p:txBody>
      </p:sp>
      <p:pic>
        <p:nvPicPr>
          <p:cNvPr id="39" name="Image 6" descr="preencoded.png">    </p:cNvPr>
          <p:cNvPicPr>
            <a:picLocks noChangeAspect="1"/>
          </p:cNvPicPr>
          <p:nvPr/>
        </p:nvPicPr>
        <p:blipFill>
          <a:blip r:embed="rId7"/>
          <a:stretch>
            <a:fillRect/>
          </a:stretch>
        </p:blipFill>
        <p:spPr>
          <a:xfrm>
            <a:off x="7601950" y="5616575"/>
            <a:ext cx="431789" cy="431800"/>
          </a:xfrm>
          <a:prstGeom prst="rect">
            <a:avLst/>
          </a:prstGeom>
        </p:spPr>
      </p:pic>
      <p:sp>
        <p:nvSpPr>
          <p:cNvPr id="40" name="Text 31"/>
          <p:cNvSpPr/>
          <p:nvPr/>
        </p:nvSpPr>
        <p:spPr>
          <a:xfrm>
            <a:off x="7326824" y="6244431"/>
            <a:ext cx="982142" cy="257175"/>
          </a:xfrm>
          <a:prstGeom prst="rect">
            <a:avLst/>
          </a:prstGeom>
          <a:noFill/>
          <a:ln/>
        </p:spPr>
        <p:txBody>
          <a:bodyPr wrap="none" lIns="0" tIns="0" rIns="0" bIns="0" rtlCol="0" anchor="t"/>
          <a:lstStyle/>
          <a:p>
            <a:pPr algn="ctr" indent="0" marL="0">
              <a:lnSpc>
                <a:spcPct val="113000"/>
              </a:lnSpc>
              <a:buNone/>
            </a:pPr>
            <a:r>
              <a:rPr lang="en-US" sz="1500" dirty="0">
                <a:solidFill>
                  <a:srgbClr val="FFFFFF"/>
                </a:solidFill>
                <a:latin typeface="Inter Tight" pitchFamily="34" charset="0"/>
                <a:ea typeface="Inter Tight" pitchFamily="34" charset="-122"/>
                <a:cs typeface="Inter Tight" pitchFamily="34" charset="0"/>
              </a:rPr>
              <a:t>Frog</a:t>
            </a:r>
            <a:endParaRPr lang="en-US" sz="1500" dirty="0"/>
          </a:p>
        </p:txBody>
      </p:sp>
      <p:pic>
        <p:nvPicPr>
          <p:cNvPr id="41" name="Image 7" descr="preencoded.png">    </p:cNvPr>
          <p:cNvPicPr>
            <a:picLocks noChangeAspect="1"/>
          </p:cNvPicPr>
          <p:nvPr/>
        </p:nvPicPr>
        <p:blipFill>
          <a:blip r:embed="rId8"/>
          <a:stretch>
            <a:fillRect/>
          </a:stretch>
        </p:blipFill>
        <p:spPr>
          <a:xfrm>
            <a:off x="8749982" y="5616575"/>
            <a:ext cx="431789" cy="431800"/>
          </a:xfrm>
          <a:prstGeom prst="rect">
            <a:avLst/>
          </a:prstGeom>
        </p:spPr>
      </p:pic>
      <p:sp>
        <p:nvSpPr>
          <p:cNvPr id="42" name="Text 32"/>
          <p:cNvSpPr/>
          <p:nvPr/>
        </p:nvSpPr>
        <p:spPr>
          <a:xfrm>
            <a:off x="8415722" y="6244431"/>
            <a:ext cx="1100408" cy="257175"/>
          </a:xfrm>
          <a:prstGeom prst="rect">
            <a:avLst/>
          </a:prstGeom>
          <a:noFill/>
          <a:ln/>
        </p:spPr>
        <p:txBody>
          <a:bodyPr wrap="none" lIns="0" tIns="0" rIns="0" bIns="0" rtlCol="0" anchor="t"/>
          <a:lstStyle/>
          <a:p>
            <a:pPr algn="ctr" indent="0" marL="0">
              <a:lnSpc>
                <a:spcPct val="113000"/>
              </a:lnSpc>
              <a:buNone/>
            </a:pPr>
            <a:r>
              <a:rPr lang="en-US" sz="1500" dirty="0">
                <a:solidFill>
                  <a:srgbClr val="FFFFFF"/>
                </a:solidFill>
                <a:latin typeface="Inter Tight" pitchFamily="34" charset="0"/>
                <a:ea typeface="Inter Tight" pitchFamily="34" charset="-122"/>
                <a:cs typeface="Inter Tight" pitchFamily="34" charset="0"/>
              </a:rPr>
              <a:t>Horse</a:t>
            </a:r>
            <a:endParaRPr lang="en-US" sz="1500" dirty="0"/>
          </a:p>
        </p:txBody>
      </p:sp>
      <p:pic>
        <p:nvPicPr>
          <p:cNvPr id="43" name="Image 8" descr="preencoded.png">    </p:cNvPr>
          <p:cNvPicPr>
            <a:picLocks noChangeAspect="1"/>
          </p:cNvPicPr>
          <p:nvPr/>
        </p:nvPicPr>
        <p:blipFill>
          <a:blip r:embed="rId9"/>
          <a:stretch>
            <a:fillRect/>
          </a:stretch>
        </p:blipFill>
        <p:spPr>
          <a:xfrm>
            <a:off x="9898013" y="5616575"/>
            <a:ext cx="431789" cy="431800"/>
          </a:xfrm>
          <a:prstGeom prst="rect">
            <a:avLst/>
          </a:prstGeom>
        </p:spPr>
      </p:pic>
      <p:sp>
        <p:nvSpPr>
          <p:cNvPr id="44" name="Text 33"/>
          <p:cNvSpPr/>
          <p:nvPr/>
        </p:nvSpPr>
        <p:spPr>
          <a:xfrm>
            <a:off x="9629336" y="6244431"/>
            <a:ext cx="969244" cy="257175"/>
          </a:xfrm>
          <a:prstGeom prst="rect">
            <a:avLst/>
          </a:prstGeom>
          <a:noFill/>
          <a:ln/>
        </p:spPr>
        <p:txBody>
          <a:bodyPr wrap="none" lIns="0" tIns="0" rIns="0" bIns="0" rtlCol="0" anchor="t"/>
          <a:lstStyle/>
          <a:p>
            <a:pPr algn="ctr" indent="0" marL="0">
              <a:lnSpc>
                <a:spcPct val="113000"/>
              </a:lnSpc>
              <a:buNone/>
            </a:pPr>
            <a:r>
              <a:rPr lang="en-US" sz="1500" dirty="0">
                <a:solidFill>
                  <a:srgbClr val="FFFFFF"/>
                </a:solidFill>
                <a:latin typeface="Inter Tight" pitchFamily="34" charset="0"/>
                <a:ea typeface="Inter Tight" pitchFamily="34" charset="-122"/>
                <a:cs typeface="Inter Tight" pitchFamily="34" charset="0"/>
              </a:rPr>
              <a:t>Ship</a:t>
            </a:r>
            <a:endParaRPr lang="en-US" sz="1500" dirty="0"/>
          </a:p>
        </p:txBody>
      </p:sp>
      <p:pic>
        <p:nvPicPr>
          <p:cNvPr id="45" name="Image 9" descr="preencoded.png">    </p:cNvPr>
          <p:cNvPicPr>
            <a:picLocks noChangeAspect="1"/>
          </p:cNvPicPr>
          <p:nvPr/>
        </p:nvPicPr>
        <p:blipFill>
          <a:blip r:embed="rId10"/>
          <a:stretch>
            <a:fillRect/>
          </a:stretch>
        </p:blipFill>
        <p:spPr>
          <a:xfrm>
            <a:off x="11046144" y="5616575"/>
            <a:ext cx="431789" cy="431800"/>
          </a:xfrm>
          <a:prstGeom prst="rect">
            <a:avLst/>
          </a:prstGeom>
        </p:spPr>
      </p:pic>
      <p:sp>
        <p:nvSpPr>
          <p:cNvPr id="46" name="Text 34"/>
          <p:cNvSpPr/>
          <p:nvPr/>
        </p:nvSpPr>
        <p:spPr>
          <a:xfrm>
            <a:off x="10727759" y="6244431"/>
            <a:ext cx="1068559" cy="257175"/>
          </a:xfrm>
          <a:prstGeom prst="rect">
            <a:avLst/>
          </a:prstGeom>
          <a:noFill/>
          <a:ln/>
        </p:spPr>
        <p:txBody>
          <a:bodyPr wrap="none" lIns="0" tIns="0" rIns="0" bIns="0" rtlCol="0" anchor="t"/>
          <a:lstStyle/>
          <a:p>
            <a:pPr algn="ctr" indent="0" marL="0">
              <a:lnSpc>
                <a:spcPct val="113000"/>
              </a:lnSpc>
              <a:buNone/>
            </a:pPr>
            <a:r>
              <a:rPr lang="en-US" sz="1500" dirty="0">
                <a:solidFill>
                  <a:srgbClr val="FFFFFF"/>
                </a:solidFill>
                <a:latin typeface="Inter Tight" pitchFamily="34" charset="0"/>
                <a:ea typeface="Inter Tight" pitchFamily="34" charset="-122"/>
                <a:cs typeface="Inter Tight" pitchFamily="34" charset="0"/>
              </a:rPr>
              <a:t>Truck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8786" y="363220"/>
            <a:ext cx="116329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0"/>
              </a:rPr>
              <a:t>06 / PROPOSED METHODOLOGY</a:t>
            </a:r>
            <a:endParaRPr lang="en-US" sz="1300" dirty="0"/>
          </a:p>
        </p:txBody>
      </p:sp>
      <p:sp>
        <p:nvSpPr>
          <p:cNvPr id="3" name="Text 1"/>
          <p:cNvSpPr/>
          <p:nvPr/>
        </p:nvSpPr>
        <p:spPr>
          <a:xfrm>
            <a:off x="558786" y="684260"/>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Teacher training, GA pruning, then distillation</a:t>
            </a:r>
            <a:endParaRPr lang="en-US" sz="3400" dirty="0"/>
          </a:p>
        </p:txBody>
      </p:sp>
      <p:sp>
        <p:nvSpPr>
          <p:cNvPr id="4" name="Shape 2"/>
          <p:cNvSpPr/>
          <p:nvPr/>
        </p:nvSpPr>
        <p:spPr>
          <a:xfrm>
            <a:off x="558786" y="1287066"/>
            <a:ext cx="2964979" cy="1132780"/>
          </a:xfrm>
          <a:prstGeom prst="roundRect">
            <a:avLst>
              <a:gd name="adj" fmla="val 1009"/>
            </a:avLst>
          </a:prstGeom>
          <a:solidFill>
            <a:srgbClr val="A186F3"/>
          </a:solidFill>
          <a:ln/>
        </p:spPr>
      </p:sp>
      <p:sp>
        <p:nvSpPr>
          <p:cNvPr id="5" name="Text 3"/>
          <p:cNvSpPr/>
          <p:nvPr/>
        </p:nvSpPr>
        <p:spPr>
          <a:xfrm>
            <a:off x="787380" y="1530747"/>
            <a:ext cx="250779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CIFAR-10 preparation</a:t>
            </a:r>
            <a:endParaRPr lang="en-US" sz="1900" dirty="0"/>
          </a:p>
        </p:txBody>
      </p:sp>
      <p:sp>
        <p:nvSpPr>
          <p:cNvPr id="6" name="Text 4"/>
          <p:cNvSpPr/>
          <p:nvPr/>
        </p:nvSpPr>
        <p:spPr>
          <a:xfrm>
            <a:off x="3676161" y="1603931"/>
            <a:ext cx="523167" cy="675580"/>
          </a:xfrm>
          <a:prstGeom prst="rect">
            <a:avLst/>
          </a:prstGeom>
          <a:noFill/>
          <a:ln/>
        </p:spPr>
        <p:txBody>
          <a:bodyPr wrap="none" lIns="0" tIns="0" rIns="0" bIns="0" rtlCol="0" anchor="t"/>
          <a:lstStyle/>
          <a:p>
            <a:pPr algn="l" indent="0" marL="0">
              <a:lnSpc>
                <a:spcPct val="79000"/>
              </a:lnSpc>
              <a:buNone/>
            </a:pPr>
            <a:r>
              <a:rPr lang="en-US" sz="5600" spc="-252" kern="100" dirty="0">
                <a:solidFill>
                  <a:srgbClr val="121212"/>
                </a:solidFill>
                <a:latin typeface="Inter Tight SemiBold" pitchFamily="34" charset="0"/>
                <a:ea typeface="Inter Tight SemiBold" pitchFamily="34" charset="-122"/>
                <a:cs typeface="Inter Tight SemiBold" pitchFamily="34" charset="0"/>
              </a:rPr>
              <a:t>→</a:t>
            </a:r>
            <a:endParaRPr lang="en-US" sz="5600" dirty="0"/>
          </a:p>
        </p:txBody>
      </p:sp>
      <p:sp>
        <p:nvSpPr>
          <p:cNvPr id="7" name="Shape 5"/>
          <p:cNvSpPr/>
          <p:nvPr/>
        </p:nvSpPr>
        <p:spPr>
          <a:xfrm>
            <a:off x="4351725" y="1287066"/>
            <a:ext cx="2964979" cy="1132780"/>
          </a:xfrm>
          <a:prstGeom prst="roundRect">
            <a:avLst>
              <a:gd name="adj" fmla="val 1009"/>
            </a:avLst>
          </a:prstGeom>
          <a:solidFill>
            <a:srgbClr val="A186F3"/>
          </a:solidFill>
          <a:ln/>
        </p:spPr>
      </p:sp>
      <p:sp>
        <p:nvSpPr>
          <p:cNvPr id="8" name="Text 6"/>
          <p:cNvSpPr/>
          <p:nvPr/>
        </p:nvSpPr>
        <p:spPr>
          <a:xfrm>
            <a:off x="4580319" y="1530747"/>
            <a:ext cx="2507790" cy="603250"/>
          </a:xfrm>
          <a:prstGeom prst="rect">
            <a:avLst/>
          </a:prstGeom>
          <a:noFill/>
          <a:ln/>
        </p:spPr>
        <p:txBody>
          <a:bodyPr wrap="square" lIns="0" tIns="0" rIns="0" bIns="0" rtlCol="0" anchor="t">
            <a:normAutofit/>
          </a:bodyPr>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Original CNN teacher training</a:t>
            </a:r>
            <a:endParaRPr lang="en-US" sz="1900" dirty="0"/>
          </a:p>
        </p:txBody>
      </p:sp>
      <p:sp>
        <p:nvSpPr>
          <p:cNvPr id="9" name="Text 7"/>
          <p:cNvSpPr/>
          <p:nvPr/>
        </p:nvSpPr>
        <p:spPr>
          <a:xfrm>
            <a:off x="7469001" y="1603931"/>
            <a:ext cx="523267" cy="675580"/>
          </a:xfrm>
          <a:prstGeom prst="rect">
            <a:avLst/>
          </a:prstGeom>
          <a:noFill/>
          <a:ln/>
        </p:spPr>
        <p:txBody>
          <a:bodyPr wrap="none" lIns="0" tIns="0" rIns="0" bIns="0" rtlCol="0" anchor="t"/>
          <a:lstStyle/>
          <a:p>
            <a:pPr algn="l" indent="0" marL="0">
              <a:lnSpc>
                <a:spcPct val="79000"/>
              </a:lnSpc>
              <a:buNone/>
            </a:pPr>
            <a:r>
              <a:rPr lang="en-US" sz="5600" spc="-252" kern="100" dirty="0">
                <a:solidFill>
                  <a:srgbClr val="121212"/>
                </a:solidFill>
                <a:latin typeface="Inter Tight SemiBold" pitchFamily="34" charset="0"/>
                <a:ea typeface="Inter Tight SemiBold" pitchFamily="34" charset="-122"/>
                <a:cs typeface="Inter Tight SemiBold" pitchFamily="34" charset="0"/>
              </a:rPr>
              <a:t>→</a:t>
            </a:r>
            <a:endParaRPr lang="en-US" sz="5600" dirty="0"/>
          </a:p>
        </p:txBody>
      </p:sp>
      <p:sp>
        <p:nvSpPr>
          <p:cNvPr id="10" name="Shape 8"/>
          <p:cNvSpPr/>
          <p:nvPr/>
        </p:nvSpPr>
        <p:spPr>
          <a:xfrm>
            <a:off x="8144663" y="1287066"/>
            <a:ext cx="3488246" cy="1132780"/>
          </a:xfrm>
          <a:prstGeom prst="rect">
            <a:avLst/>
          </a:prstGeom>
          <a:solidFill>
            <a:srgbClr val="A186F3"/>
          </a:solidFill>
          <a:ln/>
        </p:spPr>
      </p:sp>
      <p:sp>
        <p:nvSpPr>
          <p:cNvPr id="11" name="Text 9"/>
          <p:cNvSpPr/>
          <p:nvPr/>
        </p:nvSpPr>
        <p:spPr>
          <a:xfrm>
            <a:off x="8373258" y="1530747"/>
            <a:ext cx="3031057" cy="603250"/>
          </a:xfrm>
          <a:prstGeom prst="rect">
            <a:avLst/>
          </a:prstGeom>
          <a:noFill/>
          <a:ln/>
        </p:spPr>
        <p:txBody>
          <a:bodyPr wrap="square" lIns="0" tIns="0" rIns="0" bIns="0" rtlCol="0" anchor="t">
            <a:normAutofit/>
          </a:bodyPr>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0"/>
              </a:rPr>
              <a:t>GA search for channel-pruning ratios</a:t>
            </a:r>
            <a:endParaRPr lang="en-US" sz="1900" dirty="0"/>
          </a:p>
        </p:txBody>
      </p:sp>
      <p:sp>
        <p:nvSpPr>
          <p:cNvPr id="12" name="Shape 10"/>
          <p:cNvSpPr/>
          <p:nvPr/>
        </p:nvSpPr>
        <p:spPr>
          <a:xfrm>
            <a:off x="558786" y="2613521"/>
            <a:ext cx="2964979" cy="1132780"/>
          </a:xfrm>
          <a:prstGeom prst="roundRect">
            <a:avLst>
              <a:gd name="adj" fmla="val 1009"/>
            </a:avLst>
          </a:prstGeom>
          <a:solidFill>
            <a:srgbClr val="A186F3"/>
          </a:solidFill>
          <a:ln/>
        </p:spPr>
      </p:sp>
      <p:sp>
        <p:nvSpPr>
          <p:cNvPr id="13" name="Text 11"/>
          <p:cNvSpPr/>
          <p:nvPr/>
        </p:nvSpPr>
        <p:spPr>
          <a:xfrm>
            <a:off x="787380" y="2857202"/>
            <a:ext cx="2507790" cy="603250"/>
          </a:xfrm>
          <a:prstGeom prst="rect">
            <a:avLst/>
          </a:prstGeom>
          <a:noFill/>
          <a:ln/>
        </p:spPr>
        <p:txBody>
          <a:bodyPr wrap="square" lIns="0" tIns="0" rIns="0" bIns="0" rtlCol="0" anchor="t">
            <a:normAutofit/>
          </a:bodyPr>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Pruned student construction</a:t>
            </a:r>
            <a:endParaRPr lang="en-US" sz="1900" dirty="0"/>
          </a:p>
        </p:txBody>
      </p:sp>
      <p:sp>
        <p:nvSpPr>
          <p:cNvPr id="14" name="Text 12"/>
          <p:cNvSpPr/>
          <p:nvPr/>
        </p:nvSpPr>
        <p:spPr>
          <a:xfrm>
            <a:off x="3676161" y="2930386"/>
            <a:ext cx="523167" cy="675580"/>
          </a:xfrm>
          <a:prstGeom prst="rect">
            <a:avLst/>
          </a:prstGeom>
          <a:noFill/>
          <a:ln/>
        </p:spPr>
        <p:txBody>
          <a:bodyPr wrap="none" lIns="0" tIns="0" rIns="0" bIns="0" rtlCol="0" anchor="t"/>
          <a:lstStyle/>
          <a:p>
            <a:pPr algn="l" indent="0" marL="0">
              <a:lnSpc>
                <a:spcPct val="79000"/>
              </a:lnSpc>
              <a:buNone/>
            </a:pPr>
            <a:r>
              <a:rPr lang="en-US" sz="5600" spc="-252" kern="100" dirty="0">
                <a:solidFill>
                  <a:srgbClr val="121212"/>
                </a:solidFill>
                <a:latin typeface="Inter Tight SemiBold" pitchFamily="34" charset="0"/>
                <a:ea typeface="Inter Tight SemiBold" pitchFamily="34" charset="-122"/>
                <a:cs typeface="Inter Tight SemiBold" pitchFamily="34" charset="0"/>
              </a:rPr>
              <a:t>→</a:t>
            </a:r>
            <a:endParaRPr lang="en-US" sz="5600" dirty="0"/>
          </a:p>
        </p:txBody>
      </p:sp>
      <p:sp>
        <p:nvSpPr>
          <p:cNvPr id="15" name="Shape 13"/>
          <p:cNvSpPr/>
          <p:nvPr/>
        </p:nvSpPr>
        <p:spPr>
          <a:xfrm>
            <a:off x="4351725" y="2613521"/>
            <a:ext cx="2964979" cy="1132780"/>
          </a:xfrm>
          <a:prstGeom prst="rect">
            <a:avLst/>
          </a:prstGeom>
          <a:solidFill>
            <a:srgbClr val="A186F3"/>
          </a:solidFill>
          <a:ln/>
        </p:spPr>
      </p:sp>
      <p:sp>
        <p:nvSpPr>
          <p:cNvPr id="16" name="Text 14"/>
          <p:cNvSpPr/>
          <p:nvPr/>
        </p:nvSpPr>
        <p:spPr>
          <a:xfrm>
            <a:off x="4580319" y="2857202"/>
            <a:ext cx="2507790" cy="603250"/>
          </a:xfrm>
          <a:prstGeom prst="rect">
            <a:avLst/>
          </a:prstGeom>
          <a:noFill/>
          <a:ln/>
        </p:spPr>
        <p:txBody>
          <a:bodyPr wrap="square" lIns="0" tIns="0" rIns="0" bIns="0" rtlCol="0" anchor="t">
            <a:normAutofit/>
          </a:bodyPr>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0"/>
              </a:rPr>
              <a:t>Knowledge-distillation retraining</a:t>
            </a:r>
            <a:endParaRPr lang="en-US" sz="1900" dirty="0"/>
          </a:p>
        </p:txBody>
      </p:sp>
      <p:sp>
        <p:nvSpPr>
          <p:cNvPr id="17" name="Text 15"/>
          <p:cNvSpPr/>
          <p:nvPr/>
        </p:nvSpPr>
        <p:spPr>
          <a:xfrm>
            <a:off x="7469001" y="2930386"/>
            <a:ext cx="523267" cy="675580"/>
          </a:xfrm>
          <a:prstGeom prst="rect">
            <a:avLst/>
          </a:prstGeom>
          <a:noFill/>
          <a:ln/>
        </p:spPr>
        <p:txBody>
          <a:bodyPr wrap="none" lIns="0" tIns="0" rIns="0" bIns="0" rtlCol="0" anchor="t"/>
          <a:lstStyle/>
          <a:p>
            <a:pPr algn="l" indent="0" marL="0">
              <a:lnSpc>
                <a:spcPct val="79000"/>
              </a:lnSpc>
              <a:buNone/>
            </a:pPr>
            <a:r>
              <a:rPr lang="en-US" sz="5600" spc="-252" kern="100" dirty="0">
                <a:solidFill>
                  <a:srgbClr val="121212"/>
                </a:solidFill>
                <a:latin typeface="Inter Tight SemiBold" pitchFamily="34" charset="0"/>
                <a:ea typeface="Inter Tight SemiBold" pitchFamily="34" charset="-122"/>
                <a:cs typeface="Inter Tight SemiBold" pitchFamily="34" charset="0"/>
              </a:rPr>
              <a:t>→</a:t>
            </a:r>
            <a:endParaRPr lang="en-US" sz="5600" dirty="0"/>
          </a:p>
        </p:txBody>
      </p:sp>
      <p:sp>
        <p:nvSpPr>
          <p:cNvPr id="18" name="Shape 16"/>
          <p:cNvSpPr/>
          <p:nvPr/>
        </p:nvSpPr>
        <p:spPr>
          <a:xfrm>
            <a:off x="8144663" y="2613521"/>
            <a:ext cx="3488246" cy="1132780"/>
          </a:xfrm>
          <a:prstGeom prst="roundRect">
            <a:avLst>
              <a:gd name="adj" fmla="val 1009"/>
            </a:avLst>
          </a:prstGeom>
          <a:solidFill>
            <a:srgbClr val="A186F3"/>
          </a:solidFill>
          <a:ln/>
        </p:spPr>
      </p:sp>
      <p:sp>
        <p:nvSpPr>
          <p:cNvPr id="19" name="Text 17"/>
          <p:cNvSpPr/>
          <p:nvPr/>
        </p:nvSpPr>
        <p:spPr>
          <a:xfrm>
            <a:off x="8373258" y="2857202"/>
            <a:ext cx="3031057"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Evaluation</a:t>
            </a:r>
            <a:endParaRPr lang="en-US" sz="1900" dirty="0"/>
          </a:p>
        </p:txBody>
      </p:sp>
      <p:sp>
        <p:nvSpPr>
          <p:cNvPr id="20" name="Text 18"/>
          <p:cNvSpPr/>
          <p:nvPr/>
        </p:nvSpPr>
        <p:spPr>
          <a:xfrm>
            <a:off x="558786" y="3943469"/>
            <a:ext cx="5384665"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GENETIC ALGORITHM</a:t>
            </a:r>
            <a:endParaRPr lang="en-US" sz="1300" dirty="0"/>
          </a:p>
        </p:txBody>
      </p:sp>
      <p:sp>
        <p:nvSpPr>
          <p:cNvPr id="21" name="Text 19"/>
          <p:cNvSpPr/>
          <p:nvPr/>
        </p:nvSpPr>
        <p:spPr>
          <a:xfrm>
            <a:off x="558786" y="4289683"/>
            <a:ext cx="5384665" cy="582811"/>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0"/>
              </a:rPr>
              <a:t>Searches per-layer channel-pruning ratios using channel importance and fitness.</a:t>
            </a:r>
            <a:endParaRPr lang="en-US" sz="1700" dirty="0"/>
          </a:p>
        </p:txBody>
      </p:sp>
      <p:sp>
        <p:nvSpPr>
          <p:cNvPr id="22" name="Text 20"/>
          <p:cNvSpPr/>
          <p:nvPr/>
        </p:nvSpPr>
        <p:spPr>
          <a:xfrm>
            <a:off x="6248244" y="3943469"/>
            <a:ext cx="5384665"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KNOWLEDGE DISTILLATION</a:t>
            </a:r>
            <a:endParaRPr lang="en-US" sz="1300" dirty="0"/>
          </a:p>
        </p:txBody>
      </p:sp>
      <p:sp>
        <p:nvSpPr>
          <p:cNvPr id="23" name="Text 21"/>
          <p:cNvSpPr/>
          <p:nvPr/>
        </p:nvSpPr>
        <p:spPr>
          <a:xfrm>
            <a:off x="6248244" y="4289683"/>
            <a:ext cx="5384665" cy="582811"/>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0"/>
              </a:rPr>
              <a:t>The pruned student learns from the teacher’s softened outputs and the labels.</a:t>
            </a:r>
            <a:endParaRPr lang="en-US" sz="1700" dirty="0"/>
          </a:p>
        </p:txBody>
      </p:sp>
      <p:sp>
        <p:nvSpPr>
          <p:cNvPr id="24" name="Text 22"/>
          <p:cNvSpPr/>
          <p:nvPr/>
        </p:nvSpPr>
        <p:spPr>
          <a:xfrm>
            <a:off x="558786" y="5061565"/>
            <a:ext cx="11632909"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METRICS: ACCURACY, PRECISION, RECALL, F1-SCORE, PARAMETERS, MACS, FLOPS, LATENCY.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7987" y="262350"/>
            <a:ext cx="11683708" cy="195064"/>
          </a:xfrm>
          <a:prstGeom prst="rect">
            <a:avLst/>
          </a:prstGeom>
          <a:noFill/>
          <a:ln/>
        </p:spPr>
        <p:txBody>
          <a:bodyPr wrap="none" lIns="0" tIns="0" rIns="0" bIns="0" rtlCol="0" anchor="t"/>
          <a:lstStyle/>
          <a:p>
            <a:pPr algn="l" indent="0" marL="0">
              <a:lnSpc>
                <a:spcPct val="100000"/>
              </a:lnSpc>
              <a:buNone/>
            </a:pPr>
            <a:r>
              <a:rPr lang="en-US" sz="1300" spc="51" kern="100" dirty="0">
                <a:solidFill>
                  <a:srgbClr val="1A1A1A"/>
                </a:solidFill>
                <a:latin typeface="Fragment Mono" pitchFamily="34" charset="0"/>
                <a:ea typeface="Fragment Mono" pitchFamily="34" charset="-122"/>
                <a:cs typeface="Fragment Mono" pitchFamily="34" charset="0"/>
              </a:rPr>
              <a:t>07 / IMPLEMENTATION</a:t>
            </a:r>
            <a:endParaRPr lang="en-US" sz="1300" dirty="0"/>
          </a:p>
        </p:txBody>
      </p:sp>
      <p:sp>
        <p:nvSpPr>
          <p:cNvPr id="3" name="Text 1"/>
          <p:cNvSpPr/>
          <p:nvPr/>
        </p:nvSpPr>
        <p:spPr>
          <a:xfrm>
            <a:off x="507987" y="575886"/>
            <a:ext cx="11175720" cy="425450"/>
          </a:xfrm>
          <a:prstGeom prst="rect">
            <a:avLst/>
          </a:prstGeom>
          <a:noFill/>
          <a:ln/>
        </p:spPr>
        <p:txBody>
          <a:bodyPr wrap="none" lIns="0" tIns="0" rIns="0" bIns="0" rtlCol="0" anchor="t"/>
          <a:lstStyle/>
          <a:p>
            <a:pPr algn="l" indent="0" marL="0">
              <a:lnSpc>
                <a:spcPct val="83000"/>
              </a:lnSpc>
              <a:buNone/>
            </a:pPr>
            <a:r>
              <a:rPr lang="en-US" sz="3350" spc="-117" kern="100" dirty="0">
                <a:solidFill>
                  <a:srgbClr val="121212"/>
                </a:solidFill>
                <a:latin typeface="Inter Tight SemiBold" pitchFamily="34" charset="0"/>
                <a:ea typeface="Inter Tight SemiBold" pitchFamily="34" charset="-122"/>
                <a:cs typeface="Inter Tight SemiBold" pitchFamily="34" charset="0"/>
              </a:rPr>
              <a:t>Implementation on CIFAR-10 with a Tesla T4 GPU</a:t>
            </a:r>
            <a:endParaRPr lang="en-US" sz="3350" dirty="0"/>
          </a:p>
        </p:txBody>
      </p:sp>
      <p:sp>
        <p:nvSpPr>
          <p:cNvPr id="4" name="Shape 2"/>
          <p:cNvSpPr/>
          <p:nvPr/>
        </p:nvSpPr>
        <p:spPr>
          <a:xfrm>
            <a:off x="507987" y="1167209"/>
            <a:ext cx="3521979" cy="2389783"/>
          </a:xfrm>
          <a:prstGeom prst="roundRect">
            <a:avLst>
              <a:gd name="adj" fmla="val 478"/>
            </a:avLst>
          </a:prstGeom>
          <a:solidFill>
            <a:srgbClr val="A186F3"/>
          </a:solidFill>
          <a:ln/>
        </p:spPr>
      </p:sp>
      <p:sp>
        <p:nvSpPr>
          <p:cNvPr id="5" name="Text 3"/>
          <p:cNvSpPr/>
          <p:nvPr/>
        </p:nvSpPr>
        <p:spPr>
          <a:xfrm>
            <a:off x="736582" y="1400093"/>
            <a:ext cx="3293385" cy="211336"/>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ENVIRONMENT</a:t>
            </a:r>
            <a:endParaRPr lang="en-US" sz="1300" dirty="0"/>
          </a:p>
        </p:txBody>
      </p:sp>
      <p:sp>
        <p:nvSpPr>
          <p:cNvPr id="6" name="Text 4"/>
          <p:cNvSpPr/>
          <p:nvPr/>
        </p:nvSpPr>
        <p:spPr>
          <a:xfrm>
            <a:off x="736582" y="1740074"/>
            <a:ext cx="3064791" cy="570111"/>
          </a:xfrm>
          <a:prstGeom prst="rect">
            <a:avLst/>
          </a:prstGeom>
          <a:noFill/>
          <a:ln/>
        </p:spPr>
        <p:txBody>
          <a:bodyPr wrap="square" lIns="0" tIns="0" rIns="0" bIns="0" rtlCol="0" anchor="t">
            <a:normAutofit/>
          </a:bodyPr>
          <a:lstStyle/>
          <a:p>
            <a:pPr algn="l" indent="0" marL="0">
              <a:lnSpc>
                <a:spcPct val="112000"/>
              </a:lnSpc>
              <a:buNone/>
            </a:pPr>
            <a:r>
              <a:rPr lang="en-US" sz="1650" dirty="0">
                <a:solidFill>
                  <a:srgbClr val="1A1A1A"/>
                </a:solidFill>
                <a:latin typeface="Inter Tight" pitchFamily="34" charset="0"/>
                <a:ea typeface="Inter Tight" pitchFamily="34" charset="-122"/>
                <a:cs typeface="Inter Tight" pitchFamily="34" charset="0"/>
              </a:rPr>
              <a:t>Python · PyTorch · Google Colab · NVIDIA Tesla T4 GPU</a:t>
            </a:r>
            <a:endParaRPr lang="en-US" sz="1650" dirty="0"/>
          </a:p>
        </p:txBody>
      </p:sp>
      <p:sp>
        <p:nvSpPr>
          <p:cNvPr id="7" name="Text 5"/>
          <p:cNvSpPr/>
          <p:nvPr/>
        </p:nvSpPr>
        <p:spPr>
          <a:xfrm>
            <a:off x="736582" y="2427999"/>
            <a:ext cx="3293385" cy="211336"/>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DATASET</a:t>
            </a:r>
            <a:endParaRPr lang="en-US" sz="1300" dirty="0"/>
          </a:p>
        </p:txBody>
      </p:sp>
      <p:sp>
        <p:nvSpPr>
          <p:cNvPr id="8" name="Text 6"/>
          <p:cNvSpPr/>
          <p:nvPr/>
        </p:nvSpPr>
        <p:spPr>
          <a:xfrm>
            <a:off x="736582" y="2767980"/>
            <a:ext cx="3064791" cy="570111"/>
          </a:xfrm>
          <a:prstGeom prst="rect">
            <a:avLst/>
          </a:prstGeom>
          <a:noFill/>
          <a:ln/>
        </p:spPr>
        <p:txBody>
          <a:bodyPr wrap="square" lIns="0" tIns="0" rIns="0" bIns="0" rtlCol="0" anchor="t">
            <a:normAutofit/>
          </a:bodyPr>
          <a:lstStyle/>
          <a:p>
            <a:pPr algn="l" indent="0" marL="0">
              <a:lnSpc>
                <a:spcPct val="112000"/>
              </a:lnSpc>
              <a:buNone/>
            </a:pPr>
            <a:r>
              <a:rPr lang="en-US" sz="1650" dirty="0">
                <a:solidFill>
                  <a:srgbClr val="1A1A1A"/>
                </a:solidFill>
                <a:latin typeface="Inter Tight" pitchFamily="34" charset="0"/>
                <a:ea typeface="Inter Tight" pitchFamily="34" charset="-122"/>
                <a:cs typeface="Inter Tight" pitchFamily="34" charset="0"/>
              </a:rPr>
              <a:t>CIFAR-10: 60,000 images, 10 classes.</a:t>
            </a:r>
            <a:endParaRPr lang="en-US" sz="1650" dirty="0"/>
          </a:p>
        </p:txBody>
      </p:sp>
      <p:sp>
        <p:nvSpPr>
          <p:cNvPr id="9" name="Shape 7"/>
          <p:cNvSpPr/>
          <p:nvPr/>
        </p:nvSpPr>
        <p:spPr>
          <a:xfrm>
            <a:off x="4334759" y="1167209"/>
            <a:ext cx="3522078" cy="2389783"/>
          </a:xfrm>
          <a:prstGeom prst="roundRect">
            <a:avLst>
              <a:gd name="adj" fmla="val 478"/>
            </a:avLst>
          </a:prstGeom>
          <a:solidFill>
            <a:srgbClr val="A186F3"/>
          </a:solidFill>
          <a:ln/>
        </p:spPr>
      </p:sp>
      <p:sp>
        <p:nvSpPr>
          <p:cNvPr id="10" name="Text 8"/>
          <p:cNvSpPr/>
          <p:nvPr/>
        </p:nvSpPr>
        <p:spPr>
          <a:xfrm>
            <a:off x="4563353" y="1400093"/>
            <a:ext cx="3293484" cy="211336"/>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BASELINE CNN</a:t>
            </a:r>
            <a:endParaRPr lang="en-US" sz="1300" dirty="0"/>
          </a:p>
        </p:txBody>
      </p:sp>
      <p:sp>
        <p:nvSpPr>
          <p:cNvPr id="11" name="Text 9"/>
          <p:cNvSpPr/>
          <p:nvPr/>
        </p:nvSpPr>
        <p:spPr>
          <a:xfrm>
            <a:off x="4563353" y="1740074"/>
            <a:ext cx="3064890" cy="855166"/>
          </a:xfrm>
          <a:prstGeom prst="rect">
            <a:avLst/>
          </a:prstGeom>
          <a:noFill/>
          <a:ln/>
        </p:spPr>
        <p:txBody>
          <a:bodyPr wrap="square" lIns="0" tIns="0" rIns="0" bIns="0" rtlCol="0" anchor="t">
            <a:normAutofit/>
          </a:bodyPr>
          <a:lstStyle/>
          <a:p>
            <a:pPr algn="l" indent="0" marL="0">
              <a:lnSpc>
                <a:spcPct val="112000"/>
              </a:lnSpc>
              <a:buNone/>
            </a:pPr>
            <a:r>
              <a:rPr lang="en-US" sz="1650" dirty="0">
                <a:solidFill>
                  <a:srgbClr val="1A1A1A"/>
                </a:solidFill>
                <a:latin typeface="Inter Tight" pitchFamily="34" charset="0"/>
                <a:ea typeface="Inter Tight" pitchFamily="34" charset="-122"/>
                <a:cs typeface="Inter Tight" pitchFamily="34" charset="0"/>
              </a:rPr>
              <a:t>Conv layers with 32, 64, and 128 channels, then a 256-neuron fully connected layer.</a:t>
            </a:r>
            <a:endParaRPr lang="en-US" sz="1650" dirty="0"/>
          </a:p>
        </p:txBody>
      </p:sp>
      <p:sp>
        <p:nvSpPr>
          <p:cNvPr id="12" name="Shape 10"/>
          <p:cNvSpPr/>
          <p:nvPr/>
        </p:nvSpPr>
        <p:spPr>
          <a:xfrm>
            <a:off x="8161629" y="1167209"/>
            <a:ext cx="3522078" cy="2389783"/>
          </a:xfrm>
          <a:prstGeom prst="roundRect">
            <a:avLst>
              <a:gd name="adj" fmla="val 478"/>
            </a:avLst>
          </a:prstGeom>
          <a:solidFill>
            <a:srgbClr val="A186F3"/>
          </a:solidFill>
          <a:ln/>
        </p:spPr>
      </p:sp>
      <p:sp>
        <p:nvSpPr>
          <p:cNvPr id="13" name="Text 11"/>
          <p:cNvSpPr/>
          <p:nvPr/>
        </p:nvSpPr>
        <p:spPr>
          <a:xfrm>
            <a:off x="8390224" y="1400093"/>
            <a:ext cx="3293484" cy="211336"/>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TRAINING</a:t>
            </a:r>
            <a:endParaRPr lang="en-US" sz="1300" dirty="0"/>
          </a:p>
        </p:txBody>
      </p:sp>
      <p:sp>
        <p:nvSpPr>
          <p:cNvPr id="14" name="Text 12"/>
          <p:cNvSpPr/>
          <p:nvPr/>
        </p:nvSpPr>
        <p:spPr>
          <a:xfrm>
            <a:off x="8390224" y="1740074"/>
            <a:ext cx="3064890" cy="855166"/>
          </a:xfrm>
          <a:prstGeom prst="rect">
            <a:avLst/>
          </a:prstGeom>
          <a:noFill/>
          <a:ln/>
        </p:spPr>
        <p:txBody>
          <a:bodyPr wrap="square" lIns="0" tIns="0" rIns="0" bIns="0" rtlCol="0" anchor="t">
            <a:normAutofit/>
          </a:bodyPr>
          <a:lstStyle/>
          <a:p>
            <a:pPr algn="l" indent="0" marL="0">
              <a:lnSpc>
                <a:spcPct val="112000"/>
              </a:lnSpc>
              <a:buNone/>
            </a:pPr>
            <a:r>
              <a:rPr lang="en-US" sz="1650" dirty="0">
                <a:solidFill>
                  <a:srgbClr val="1A1A1A"/>
                </a:solidFill>
                <a:latin typeface="Inter Tight" pitchFamily="34" charset="0"/>
                <a:ea typeface="Inter Tight" pitchFamily="34" charset="-122"/>
                <a:cs typeface="Inter Tight" pitchFamily="34" charset="0"/>
              </a:rPr>
              <a:t>Teacher: original CNN. Student: GA-pruned CNN. 8 epochs · temperature 4 · α 0.7 · AdamW.</a:t>
            </a:r>
            <a:endParaRPr lang="en-US" sz="1650" dirty="0"/>
          </a:p>
        </p:txBody>
      </p:sp>
      <p:sp>
        <p:nvSpPr>
          <p:cNvPr id="15" name="Shape 13"/>
          <p:cNvSpPr/>
          <p:nvPr/>
        </p:nvSpPr>
        <p:spPr>
          <a:xfrm>
            <a:off x="507987" y="3744913"/>
            <a:ext cx="5435464" cy="1566366"/>
          </a:xfrm>
          <a:prstGeom prst="rect">
            <a:avLst/>
          </a:prstGeom>
          <a:solidFill>
            <a:srgbClr val="1A1A1A"/>
          </a:solidFill>
          <a:ln/>
        </p:spPr>
      </p:sp>
      <p:sp>
        <p:nvSpPr>
          <p:cNvPr id="16" name="Text 14"/>
          <p:cNvSpPr/>
          <p:nvPr/>
        </p:nvSpPr>
        <p:spPr>
          <a:xfrm>
            <a:off x="736582" y="3977796"/>
            <a:ext cx="5206870" cy="211336"/>
          </a:xfrm>
          <a:prstGeom prst="rect">
            <a:avLst/>
          </a:prstGeom>
          <a:noFill/>
          <a:ln/>
        </p:spPr>
        <p:txBody>
          <a:bodyPr wrap="none" lIns="0" tIns="0" rIns="0" bIns="0" rtlCol="0" anchor="t"/>
          <a:lstStyle/>
          <a:p>
            <a:pPr algn="l" indent="0" marL="0">
              <a:lnSpc>
                <a:spcPct val="108000"/>
              </a:lnSpc>
              <a:buNone/>
            </a:pPr>
            <a:r>
              <a:rPr lang="en-US" sz="1300" dirty="0">
                <a:solidFill>
                  <a:srgbClr val="FFFFFF"/>
                </a:solidFill>
                <a:latin typeface="Fragment Mono" pitchFamily="34" charset="0"/>
                <a:ea typeface="Fragment Mono" pitchFamily="34" charset="-122"/>
                <a:cs typeface="Fragment Mono" pitchFamily="34" charset="0"/>
              </a:rPr>
              <a:t>GA BEST PRUNING RATIOS</a:t>
            </a:r>
            <a:endParaRPr lang="en-US" sz="1300" dirty="0"/>
          </a:p>
        </p:txBody>
      </p:sp>
      <p:sp>
        <p:nvSpPr>
          <p:cNvPr id="17" name="Text 15"/>
          <p:cNvSpPr/>
          <p:nvPr/>
        </p:nvSpPr>
        <p:spPr>
          <a:xfrm>
            <a:off x="736582" y="4312361"/>
            <a:ext cx="1557795" cy="211336"/>
          </a:xfrm>
          <a:prstGeom prst="rect">
            <a:avLst/>
          </a:prstGeom>
          <a:noFill/>
          <a:ln/>
        </p:spPr>
        <p:txBody>
          <a:bodyPr wrap="none" lIns="0" tIns="0" rIns="0" bIns="0" rtlCol="0" anchor="t"/>
          <a:lstStyle/>
          <a:p>
            <a:pPr algn="l" indent="0" marL="0">
              <a:lnSpc>
                <a:spcPct val="108000"/>
              </a:lnSpc>
              <a:buNone/>
            </a:pPr>
            <a:r>
              <a:rPr lang="en-US" sz="1300" dirty="0">
                <a:solidFill>
                  <a:srgbClr val="FFFFFF"/>
                </a:solidFill>
                <a:latin typeface="Fragment Mono" pitchFamily="34" charset="0"/>
                <a:ea typeface="Fragment Mono" pitchFamily="34" charset="-122"/>
                <a:cs typeface="Fragment Mono" pitchFamily="34" charset="0"/>
              </a:rPr>
              <a:t>CONV1</a:t>
            </a:r>
            <a:endParaRPr lang="en-US" sz="1300" dirty="0"/>
          </a:p>
        </p:txBody>
      </p:sp>
      <p:sp>
        <p:nvSpPr>
          <p:cNvPr id="18" name="Text 16"/>
          <p:cNvSpPr/>
          <p:nvPr/>
        </p:nvSpPr>
        <p:spPr>
          <a:xfrm>
            <a:off x="736582" y="4723025"/>
            <a:ext cx="1557795" cy="375345"/>
          </a:xfrm>
          <a:prstGeom prst="rect">
            <a:avLst/>
          </a:prstGeom>
          <a:noFill/>
          <a:ln/>
        </p:spPr>
        <p:txBody>
          <a:bodyPr wrap="none" lIns="0" tIns="0" rIns="0" bIns="0" rtlCol="0" anchor="t"/>
          <a:lstStyle/>
          <a:p>
            <a:pPr algn="l" indent="0" marL="0">
              <a:lnSpc>
                <a:spcPct val="104000"/>
              </a:lnSpc>
              <a:buNone/>
            </a:pPr>
            <a:r>
              <a:rPr lang="en-US" sz="2350" spc="-12" kern="100" dirty="0">
                <a:solidFill>
                  <a:srgbClr val="FFFFFF"/>
                </a:solidFill>
                <a:latin typeface="Inter Tight" pitchFamily="34" charset="0"/>
                <a:ea typeface="Inter Tight" pitchFamily="34" charset="-122"/>
                <a:cs typeface="Inter Tight" pitchFamily="34" charset="0"/>
              </a:rPr>
              <a:t>0.095</a:t>
            </a:r>
            <a:endParaRPr lang="en-US" sz="2350" dirty="0"/>
          </a:p>
        </p:txBody>
      </p:sp>
      <p:sp>
        <p:nvSpPr>
          <p:cNvPr id="19" name="Text 17"/>
          <p:cNvSpPr/>
          <p:nvPr/>
        </p:nvSpPr>
        <p:spPr>
          <a:xfrm>
            <a:off x="2446772" y="4312361"/>
            <a:ext cx="1557795" cy="211336"/>
          </a:xfrm>
          <a:prstGeom prst="rect">
            <a:avLst/>
          </a:prstGeom>
          <a:noFill/>
          <a:ln/>
        </p:spPr>
        <p:txBody>
          <a:bodyPr wrap="none" lIns="0" tIns="0" rIns="0" bIns="0" rtlCol="0" anchor="t"/>
          <a:lstStyle/>
          <a:p>
            <a:pPr algn="l" indent="0" marL="0">
              <a:lnSpc>
                <a:spcPct val="108000"/>
              </a:lnSpc>
              <a:buNone/>
            </a:pPr>
            <a:r>
              <a:rPr lang="en-US" sz="1300" dirty="0">
                <a:solidFill>
                  <a:srgbClr val="FFFFFF"/>
                </a:solidFill>
                <a:latin typeface="Fragment Mono" pitchFamily="34" charset="0"/>
                <a:ea typeface="Fragment Mono" pitchFamily="34" charset="-122"/>
                <a:cs typeface="Fragment Mono" pitchFamily="34" charset="0"/>
              </a:rPr>
              <a:t>CONV2</a:t>
            </a:r>
            <a:endParaRPr lang="en-US" sz="1300" dirty="0"/>
          </a:p>
        </p:txBody>
      </p:sp>
      <p:sp>
        <p:nvSpPr>
          <p:cNvPr id="20" name="Text 18"/>
          <p:cNvSpPr/>
          <p:nvPr/>
        </p:nvSpPr>
        <p:spPr>
          <a:xfrm>
            <a:off x="2446772" y="4723025"/>
            <a:ext cx="1557795" cy="375345"/>
          </a:xfrm>
          <a:prstGeom prst="rect">
            <a:avLst/>
          </a:prstGeom>
          <a:noFill/>
          <a:ln/>
        </p:spPr>
        <p:txBody>
          <a:bodyPr wrap="none" lIns="0" tIns="0" rIns="0" bIns="0" rtlCol="0" anchor="t"/>
          <a:lstStyle/>
          <a:p>
            <a:pPr algn="l" indent="0" marL="0">
              <a:lnSpc>
                <a:spcPct val="104000"/>
              </a:lnSpc>
              <a:buNone/>
            </a:pPr>
            <a:r>
              <a:rPr lang="en-US" sz="2350" spc="-12" kern="100" dirty="0">
                <a:solidFill>
                  <a:srgbClr val="FFFFFF"/>
                </a:solidFill>
                <a:latin typeface="Inter Tight" pitchFamily="34" charset="0"/>
                <a:ea typeface="Inter Tight" pitchFamily="34" charset="-122"/>
                <a:cs typeface="Inter Tight" pitchFamily="34" charset="0"/>
              </a:rPr>
              <a:t>0.000</a:t>
            </a:r>
            <a:endParaRPr lang="en-US" sz="2350" dirty="0"/>
          </a:p>
        </p:txBody>
      </p:sp>
      <p:sp>
        <p:nvSpPr>
          <p:cNvPr id="21" name="Text 19"/>
          <p:cNvSpPr/>
          <p:nvPr/>
        </p:nvSpPr>
        <p:spPr>
          <a:xfrm>
            <a:off x="4156963" y="4312361"/>
            <a:ext cx="1557795" cy="211336"/>
          </a:xfrm>
          <a:prstGeom prst="rect">
            <a:avLst/>
          </a:prstGeom>
          <a:noFill/>
          <a:ln/>
        </p:spPr>
        <p:txBody>
          <a:bodyPr wrap="none" lIns="0" tIns="0" rIns="0" bIns="0" rtlCol="0" anchor="t"/>
          <a:lstStyle/>
          <a:p>
            <a:pPr algn="l" indent="0" marL="0">
              <a:lnSpc>
                <a:spcPct val="108000"/>
              </a:lnSpc>
              <a:buNone/>
            </a:pPr>
            <a:r>
              <a:rPr lang="en-US" sz="1300" dirty="0">
                <a:solidFill>
                  <a:srgbClr val="FFFFFF"/>
                </a:solidFill>
                <a:latin typeface="Fragment Mono" pitchFamily="34" charset="0"/>
                <a:ea typeface="Fragment Mono" pitchFamily="34" charset="-122"/>
                <a:cs typeface="Fragment Mono" pitchFamily="34" charset="0"/>
              </a:rPr>
              <a:t>CONV3</a:t>
            </a:r>
            <a:endParaRPr lang="en-US" sz="1300" dirty="0"/>
          </a:p>
        </p:txBody>
      </p:sp>
      <p:sp>
        <p:nvSpPr>
          <p:cNvPr id="22" name="Text 20"/>
          <p:cNvSpPr/>
          <p:nvPr/>
        </p:nvSpPr>
        <p:spPr>
          <a:xfrm>
            <a:off x="4156963" y="4723025"/>
            <a:ext cx="1557795" cy="375345"/>
          </a:xfrm>
          <a:prstGeom prst="rect">
            <a:avLst/>
          </a:prstGeom>
          <a:noFill/>
          <a:ln/>
        </p:spPr>
        <p:txBody>
          <a:bodyPr wrap="none" lIns="0" tIns="0" rIns="0" bIns="0" rtlCol="0" anchor="t"/>
          <a:lstStyle/>
          <a:p>
            <a:pPr algn="l" indent="0" marL="0">
              <a:lnSpc>
                <a:spcPct val="104000"/>
              </a:lnSpc>
              <a:buNone/>
            </a:pPr>
            <a:r>
              <a:rPr lang="en-US" sz="2350" spc="-12" kern="100" dirty="0">
                <a:solidFill>
                  <a:srgbClr val="FFFFFF"/>
                </a:solidFill>
                <a:latin typeface="Inter Tight" pitchFamily="34" charset="0"/>
                <a:ea typeface="Inter Tight" pitchFamily="34" charset="-122"/>
                <a:cs typeface="Inter Tight" pitchFamily="34" charset="0"/>
              </a:rPr>
              <a:t>0.260</a:t>
            </a:r>
            <a:endParaRPr lang="en-US" sz="2350" dirty="0"/>
          </a:p>
        </p:txBody>
      </p:sp>
      <p:sp>
        <p:nvSpPr>
          <p:cNvPr id="23" name="Shape 21"/>
          <p:cNvSpPr/>
          <p:nvPr/>
        </p:nvSpPr>
        <p:spPr>
          <a:xfrm>
            <a:off x="6248244" y="3744913"/>
            <a:ext cx="5435464" cy="1566366"/>
          </a:xfrm>
          <a:prstGeom prst="roundRect">
            <a:avLst>
              <a:gd name="adj" fmla="val 730"/>
            </a:avLst>
          </a:prstGeom>
          <a:solidFill>
            <a:srgbClr val="A186F3"/>
          </a:solidFill>
          <a:ln/>
        </p:spPr>
      </p:sp>
      <p:sp>
        <p:nvSpPr>
          <p:cNvPr id="24" name="Text 22"/>
          <p:cNvSpPr/>
          <p:nvPr/>
        </p:nvSpPr>
        <p:spPr>
          <a:xfrm>
            <a:off x="6476838" y="3977796"/>
            <a:ext cx="5206870" cy="211336"/>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GENETIC ALGORITHM</a:t>
            </a:r>
            <a:endParaRPr lang="en-US" sz="1300" dirty="0"/>
          </a:p>
        </p:txBody>
      </p:sp>
      <p:sp>
        <p:nvSpPr>
          <p:cNvPr id="25" name="Text 23"/>
          <p:cNvSpPr/>
          <p:nvPr/>
        </p:nvSpPr>
        <p:spPr>
          <a:xfrm>
            <a:off x="6476838" y="4317777"/>
            <a:ext cx="4978275" cy="570111"/>
          </a:xfrm>
          <a:prstGeom prst="rect">
            <a:avLst/>
          </a:prstGeom>
          <a:noFill/>
          <a:ln/>
        </p:spPr>
        <p:txBody>
          <a:bodyPr wrap="square" lIns="0" tIns="0" rIns="0" bIns="0" rtlCol="0" anchor="t">
            <a:normAutofit/>
          </a:bodyPr>
          <a:lstStyle/>
          <a:p>
            <a:pPr algn="l" indent="0" marL="0">
              <a:lnSpc>
                <a:spcPct val="112000"/>
              </a:lnSpc>
              <a:buNone/>
            </a:pPr>
            <a:r>
              <a:rPr lang="en-US" sz="1650" dirty="0">
                <a:solidFill>
                  <a:srgbClr val="1A1A1A"/>
                </a:solidFill>
                <a:latin typeface="Inter Tight" pitchFamily="34" charset="0"/>
                <a:ea typeface="Inter Tight" pitchFamily="34" charset="-122"/>
                <a:cs typeface="Inter Tight" pitchFamily="34" charset="0"/>
              </a:rPr>
              <a:t>Searches channel-pruning ratios using channel importance and fitness evaluation.</a:t>
            </a:r>
            <a:endParaRPr lang="en-US" sz="1650" dirty="0"/>
          </a:p>
        </p:txBody>
      </p:sp>
      <p:sp>
        <p:nvSpPr>
          <p:cNvPr id="26" name="Shape 24"/>
          <p:cNvSpPr/>
          <p:nvPr/>
        </p:nvSpPr>
        <p:spPr>
          <a:xfrm>
            <a:off x="507987" y="5499199"/>
            <a:ext cx="11175720" cy="1361877"/>
          </a:xfrm>
          <a:prstGeom prst="rect">
            <a:avLst/>
          </a:prstGeom>
          <a:solidFill>
            <a:srgbClr val="A186F3"/>
          </a:solidFill>
          <a:ln/>
        </p:spPr>
      </p:sp>
      <p:sp>
        <p:nvSpPr>
          <p:cNvPr id="27" name="Text 25"/>
          <p:cNvSpPr/>
          <p:nvPr/>
        </p:nvSpPr>
        <p:spPr>
          <a:xfrm>
            <a:off x="736582" y="5732082"/>
            <a:ext cx="10947126" cy="211336"/>
          </a:xfrm>
          <a:prstGeom prst="rect">
            <a:avLst/>
          </a:prstGeom>
          <a:noFill/>
          <a:ln/>
        </p:spPr>
        <p:txBody>
          <a:bodyPr wrap="none" lIns="0" tIns="0" rIns="0" bIns="0" rtlCol="0" anchor="t"/>
          <a:lstStyle/>
          <a:p>
            <a:pPr algn="l" indent="0" marL="0">
              <a:lnSpc>
                <a:spcPct val="108000"/>
              </a:lnSpc>
              <a:buNone/>
            </a:pPr>
            <a:r>
              <a:rPr lang="en-US" sz="1300" dirty="0">
                <a:solidFill>
                  <a:srgbClr val="000000"/>
                </a:solidFill>
                <a:latin typeface="Fragment Mono" pitchFamily="34" charset="0"/>
                <a:ea typeface="Fragment Mono" pitchFamily="34" charset="-122"/>
                <a:cs typeface="Fragment Mono" pitchFamily="34" charset="0"/>
              </a:rPr>
              <a:t>WORKFLOW</a:t>
            </a:r>
            <a:endParaRPr lang="en-US" sz="1300" dirty="0"/>
          </a:p>
        </p:txBody>
      </p:sp>
      <p:sp>
        <p:nvSpPr>
          <p:cNvPr id="28" name="Text 26"/>
          <p:cNvSpPr/>
          <p:nvPr/>
        </p:nvSpPr>
        <p:spPr>
          <a:xfrm>
            <a:off x="736582" y="6072064"/>
            <a:ext cx="10718532" cy="570111"/>
          </a:xfrm>
          <a:prstGeom prst="rect">
            <a:avLst/>
          </a:prstGeom>
          <a:noFill/>
          <a:ln/>
        </p:spPr>
        <p:txBody>
          <a:bodyPr wrap="square" lIns="0" tIns="0" rIns="0" bIns="0" rtlCol="0" anchor="t">
            <a:normAutofit/>
          </a:bodyPr>
          <a:lstStyle/>
          <a:p>
            <a:pPr algn="l" indent="0" marL="0">
              <a:lnSpc>
                <a:spcPct val="112000"/>
              </a:lnSpc>
              <a:buNone/>
            </a:pPr>
            <a:r>
              <a:rPr lang="en-US" sz="1650" dirty="0">
                <a:solidFill>
                  <a:srgbClr val="000000"/>
                </a:solidFill>
                <a:latin typeface="Inter Tight" pitchFamily="34" charset="0"/>
                <a:ea typeface="Inter Tight" pitchFamily="34" charset="-122"/>
                <a:cs typeface="Inter Tight" pitchFamily="34" charset="0"/>
              </a:rPr>
              <a:t>CIFAR-10 → Baseline CNN → Channel Importance → Genetic Algorithm → Structured Pruning → Knowledge Distillation → Optimized CNN</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8786" y="109794"/>
            <a:ext cx="11632909" cy="195858"/>
          </a:xfrm>
          <a:prstGeom prst="rect">
            <a:avLst/>
          </a:prstGeom>
          <a:noFill/>
          <a:ln/>
        </p:spPr>
        <p:txBody>
          <a:bodyPr wrap="none" lIns="0" tIns="0" rIns="0" bIns="0" rtlCol="0" anchor="t"/>
          <a:lstStyle/>
          <a:p>
            <a:pPr algn="l" indent="0" marL="0">
              <a:lnSpc>
                <a:spcPct val="100000"/>
              </a:lnSpc>
              <a:buNone/>
            </a:pPr>
            <a:r>
              <a:rPr lang="en-US" sz="1300" spc="51" kern="100" dirty="0">
                <a:solidFill>
                  <a:srgbClr val="1A1A1A"/>
                </a:solidFill>
                <a:latin typeface="Fragment Mono" pitchFamily="34" charset="0"/>
                <a:ea typeface="Fragment Mono" pitchFamily="34" charset="-122"/>
                <a:cs typeface="Fragment Mono" pitchFamily="34" charset="0"/>
              </a:rPr>
              <a:t>08 / RESULTS AND PERFORMANCE ANALYSIS</a:t>
            </a:r>
            <a:endParaRPr lang="en-US" sz="1300" dirty="0"/>
          </a:p>
        </p:txBody>
      </p:sp>
      <p:sp>
        <p:nvSpPr>
          <p:cNvPr id="3" name="Text 1"/>
          <p:cNvSpPr/>
          <p:nvPr/>
        </p:nvSpPr>
        <p:spPr>
          <a:xfrm>
            <a:off x="558786" y="424529"/>
            <a:ext cx="11074123" cy="426839"/>
          </a:xfrm>
          <a:prstGeom prst="rect">
            <a:avLst/>
          </a:prstGeom>
          <a:noFill/>
          <a:ln/>
        </p:spPr>
        <p:txBody>
          <a:bodyPr wrap="none" lIns="0" tIns="0" rIns="0" bIns="0" rtlCol="0" anchor="t"/>
          <a:lstStyle/>
          <a:p>
            <a:pPr algn="l" indent="0" marL="0">
              <a:lnSpc>
                <a:spcPct val="83000"/>
              </a:lnSpc>
              <a:buNone/>
            </a:pPr>
            <a:r>
              <a:rPr lang="en-US" sz="3350" spc="-118" kern="100" dirty="0">
                <a:solidFill>
                  <a:srgbClr val="121212"/>
                </a:solidFill>
                <a:latin typeface="Inter Tight SemiBold" pitchFamily="34" charset="0"/>
                <a:ea typeface="Inter Tight SemiBold" pitchFamily="34" charset="-122"/>
                <a:cs typeface="Inter Tight SemiBold" pitchFamily="34" charset="0"/>
              </a:rPr>
              <a:t>Teacher vs GA-pruned student: 26% fewer parameters</a:t>
            </a:r>
            <a:endParaRPr lang="en-US" sz="3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58786" y="1018877"/>
          <a:ext cx="11074123" cy="914400"/>
        </p:xfrm>
        <a:graphic>
          <a:graphicData uri="http://schemas.openxmlformats.org/drawingml/2006/table">
            <a:tbl>
              <a:tblPr/>
              <a:tblGrid>
                <a:gridCol w="2436255"/>
                <a:gridCol w="2657706"/>
                <a:gridCol w="3765158"/>
                <a:gridCol w="2215003"/>
              </a:tblGrid>
              <a:tr h="469789">
                <a:tc>
                  <a:txBody>
                    <a:bodyPr/>
                    <a:lstStyle/>
                    <a:p>
                      <a:pPr algn="l" indent="0" marL="0">
                        <a:buNone/>
                      </a:pPr>
                      <a:r>
                        <a:rPr lang="en-US" sz="1700" dirty="0">
                          <a:solidFill>
                            <a:srgbClr val="121212"/>
                          </a:solidFill>
                          <a:latin typeface="Inter Tight" pitchFamily="34" charset="0"/>
                          <a:ea typeface="Inter Tight" pitchFamily="34" charset="-122"/>
                          <a:cs typeface="Inter Tight" pitchFamily="34" charset="0"/>
                        </a:rPr>
                        <a:t>Metric</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21212"/>
                          </a:solidFill>
                          <a:latin typeface="Inter Tight" pitchFamily="34" charset="0"/>
                          <a:ea typeface="Inter Tight" pitchFamily="34" charset="-122"/>
                          <a:cs typeface="Inter Tight" pitchFamily="34" charset="0"/>
                        </a:rPr>
                        <a:t>Teacher CNN</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21212"/>
                          </a:solidFill>
                          <a:latin typeface="Inter Tight" pitchFamily="34" charset="0"/>
                          <a:ea typeface="Inter Tight" pitchFamily="34" charset="-122"/>
                          <a:cs typeface="Inter Tight" pitchFamily="34" charset="0"/>
                        </a:rPr>
                        <a:t>GA-Pruned CNN + KD</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21212"/>
                          </a:solidFill>
                          <a:latin typeface="Inter Tight" pitchFamily="34" charset="0"/>
                          <a:ea typeface="Inter Tight" pitchFamily="34" charset="-122"/>
                          <a:cs typeface="Inter Tight" pitchFamily="34" charset="0"/>
                        </a:rPr>
                        <a:t>Change</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FAFAF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r>
              <a:tr h="469789">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Test accuracy</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79.33%</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79.00%</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−0.33 pp</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r>
              <a:tr h="469789">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Macro F1-score</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0.7927</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0.7899</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−0.0028</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r>
              <a:tr h="469789">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Parameters</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620,810</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459,436</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−25.99%</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r>
              <a:tr h="469789">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MACs</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10.8488 M</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8.7557 M</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−19.29%</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r>
              <a:tr h="469789">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FLOPs</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21.6975 M</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17.5114 M</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−19.29%</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9A9A9A"/>
                      </a:solidFill>
                      <a:prstDash val="solid"/>
                      <a:round/>
                      <a:headEnd type="none" w="med" len="med"/>
                      <a:tailEnd type="none" w="med" len="med"/>
                    </a:lnB>
                  </a:tcPr>
                </a:tc>
              </a:tr>
              <a:tr h="457089">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Latency</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1.3488 ms</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1.6645 ms</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tc>
                  <a:txBody>
                    <a:bodyPr/>
                    <a:lstStyle/>
                    <a:p>
                      <a:pPr algn="l" indent="0" marL="0">
                        <a:buNone/>
                      </a:pPr>
                      <a:r>
                        <a:rPr lang="en-US" sz="1700" dirty="0">
                          <a:solidFill>
                            <a:srgbClr val="1A1A1A"/>
                          </a:solidFill>
                          <a:latin typeface="Inter Tight" pitchFamily="34" charset="0"/>
                          <a:ea typeface="Inter Tight" pitchFamily="34" charset="-122"/>
                          <a:cs typeface="Inter Tight" pitchFamily="34" charset="0"/>
                        </a:rPr>
                        <a:t>+23.41%</a:t>
                      </a:r>
                      <a:endParaRPr lang="en-US" sz="1700" dirty="0">
                        <a:latin typeface="Inter Tight" charset="0"/>
                        <a:ea typeface="Inter Tight" charset="0"/>
                        <a:cs typeface="Inter Tight" charset="0"/>
                      </a:endParaRPr>
                    </a:p>
                  </a:txBody>
                  <a:tcPr marL="160044" marR="160044" marT="85356" marB="85356" anchor="ctr">
                    <a:lnL w="12700" cap="flat" cmpd="sng" algn="ctr">
                      <a:solidFill>
                        <a:srgbClr val="FAFAFA"/>
                      </a:solidFill>
                      <a:prstDash val="solid"/>
                      <a:round/>
                      <a:headEnd type="none" w="med" len="med"/>
                      <a:tailEnd type="none" w="med" len="med"/>
                    </a:lnL>
                    <a:lnR w="12700" cap="flat" cmpd="sng" algn="ctr">
                      <a:solidFill>
                        <a:srgbClr val="FAFAFA"/>
                      </a:solidFill>
                      <a:prstDash val="solid"/>
                      <a:round/>
                      <a:headEnd type="none" w="med" len="med"/>
                      <a:tailEnd type="none" w="med" len="med"/>
                    </a:lnR>
                    <a:lnT w="12700" cap="flat" cmpd="sng" algn="ctr">
                      <a:solidFill>
                        <a:srgbClr val="9A9A9A"/>
                      </a:solidFill>
                      <a:prstDash val="solid"/>
                      <a:round/>
                      <a:headEnd type="none" w="med" len="med"/>
                      <a:tailEnd type="none" w="med" len="med"/>
                    </a:lnT>
                    <a:lnB w="12700" cap="flat" cmpd="sng" algn="ctr">
                      <a:solidFill>
                        <a:srgbClr val="FAFAFA"/>
                      </a:solidFill>
                      <a:prstDash val="solid"/>
                      <a:round/>
                      <a:headEnd type="none" w="med" len="med"/>
                      <a:tailEnd type="none" w="med" len="med"/>
                    </a:lnB>
                  </a:tcPr>
                </a:tc>
              </a:tr>
            </a:tbl>
          </a:graphicData>
        </a:graphic>
      </p:graphicFrame>
      <p:sp>
        <p:nvSpPr>
          <p:cNvPr id="5" name="Shape 2"/>
          <p:cNvSpPr/>
          <p:nvPr/>
        </p:nvSpPr>
        <p:spPr>
          <a:xfrm>
            <a:off x="558786" y="4483894"/>
            <a:ext cx="2654234" cy="1447105"/>
          </a:xfrm>
          <a:prstGeom prst="rect">
            <a:avLst/>
          </a:prstGeom>
          <a:solidFill>
            <a:srgbClr val="A186F3"/>
          </a:solidFill>
          <a:ln/>
        </p:spPr>
      </p:sp>
      <p:sp>
        <p:nvSpPr>
          <p:cNvPr id="6" name="Text 3"/>
          <p:cNvSpPr/>
          <p:nvPr/>
        </p:nvSpPr>
        <p:spPr>
          <a:xfrm>
            <a:off x="787380" y="4716609"/>
            <a:ext cx="2425639" cy="212130"/>
          </a:xfrm>
          <a:prstGeom prst="rect">
            <a:avLst/>
          </a:prstGeom>
          <a:noFill/>
          <a:ln/>
        </p:spPr>
        <p:txBody>
          <a:bodyPr wrap="none" lIns="0" tIns="0" rIns="0" bIns="0" rtlCol="0" anchor="t"/>
          <a:lstStyle/>
          <a:p>
            <a:pPr algn="l" indent="0" marL="0">
              <a:lnSpc>
                <a:spcPct val="108000"/>
              </a:lnSpc>
              <a:buNone/>
            </a:pPr>
            <a:r>
              <a:rPr lang="en-US" sz="1300" dirty="0">
                <a:solidFill>
                  <a:srgbClr val="000000"/>
                </a:solidFill>
                <a:latin typeface="Fragment Mono" pitchFamily="34" charset="0"/>
                <a:ea typeface="Fragment Mono" pitchFamily="34" charset="-122"/>
                <a:cs typeface="Fragment Mono" pitchFamily="34" charset="0"/>
              </a:rPr>
              <a:t>PARAMETER REDUCTION</a:t>
            </a:r>
            <a:endParaRPr lang="en-US" sz="1300" dirty="0"/>
          </a:p>
        </p:txBody>
      </p:sp>
      <p:sp>
        <p:nvSpPr>
          <p:cNvPr id="7" name="Text 4"/>
          <p:cNvSpPr/>
          <p:nvPr/>
        </p:nvSpPr>
        <p:spPr>
          <a:xfrm>
            <a:off x="787380" y="5129126"/>
            <a:ext cx="2197045" cy="376535"/>
          </a:xfrm>
          <a:prstGeom prst="rect">
            <a:avLst/>
          </a:prstGeom>
          <a:noFill/>
          <a:ln/>
        </p:spPr>
        <p:txBody>
          <a:bodyPr wrap="none" lIns="0" tIns="0" rIns="0" bIns="0" rtlCol="0" anchor="t"/>
          <a:lstStyle/>
          <a:p>
            <a:pPr algn="l" indent="0" marL="0">
              <a:lnSpc>
                <a:spcPct val="104000"/>
              </a:lnSpc>
              <a:buNone/>
            </a:pPr>
            <a:r>
              <a:rPr lang="en-US" sz="2350" spc="-12" kern="100" dirty="0">
                <a:solidFill>
                  <a:srgbClr val="000000"/>
                </a:solidFill>
                <a:latin typeface="Inter Tight" pitchFamily="34" charset="0"/>
                <a:ea typeface="Inter Tight" pitchFamily="34" charset="-122"/>
                <a:cs typeface="Inter Tight" pitchFamily="34" charset="0"/>
              </a:rPr>
              <a:t>25.99%</a:t>
            </a:r>
            <a:endParaRPr lang="en-US" sz="2350" dirty="0"/>
          </a:p>
        </p:txBody>
      </p:sp>
      <p:sp>
        <p:nvSpPr>
          <p:cNvPr id="8" name="Shape 5"/>
          <p:cNvSpPr/>
          <p:nvPr/>
        </p:nvSpPr>
        <p:spPr>
          <a:xfrm>
            <a:off x="3365416" y="4483894"/>
            <a:ext cx="2654234" cy="1447105"/>
          </a:xfrm>
          <a:prstGeom prst="rect">
            <a:avLst/>
          </a:prstGeom>
          <a:solidFill>
            <a:srgbClr val="A186F3"/>
          </a:solidFill>
          <a:ln/>
        </p:spPr>
      </p:sp>
      <p:sp>
        <p:nvSpPr>
          <p:cNvPr id="9" name="Text 6"/>
          <p:cNvSpPr/>
          <p:nvPr/>
        </p:nvSpPr>
        <p:spPr>
          <a:xfrm>
            <a:off x="3594010" y="4716609"/>
            <a:ext cx="2197045" cy="424259"/>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000000"/>
                </a:solidFill>
                <a:latin typeface="Fragment Mono" pitchFamily="34" charset="0"/>
                <a:ea typeface="Fragment Mono" pitchFamily="34" charset="-122"/>
                <a:cs typeface="Fragment Mono" pitchFamily="34" charset="0"/>
              </a:rPr>
              <a:t>MAC AND FLOP REDUCTION</a:t>
            </a:r>
            <a:endParaRPr lang="en-US" sz="1300" dirty="0"/>
          </a:p>
        </p:txBody>
      </p:sp>
      <p:sp>
        <p:nvSpPr>
          <p:cNvPr id="10" name="Text 7"/>
          <p:cNvSpPr/>
          <p:nvPr/>
        </p:nvSpPr>
        <p:spPr>
          <a:xfrm>
            <a:off x="3594010" y="5341256"/>
            <a:ext cx="2197045" cy="376535"/>
          </a:xfrm>
          <a:prstGeom prst="rect">
            <a:avLst/>
          </a:prstGeom>
          <a:noFill/>
          <a:ln/>
        </p:spPr>
        <p:txBody>
          <a:bodyPr wrap="none" lIns="0" tIns="0" rIns="0" bIns="0" rtlCol="0" anchor="t"/>
          <a:lstStyle/>
          <a:p>
            <a:pPr algn="l" indent="0" marL="0">
              <a:lnSpc>
                <a:spcPct val="104000"/>
              </a:lnSpc>
              <a:buNone/>
            </a:pPr>
            <a:r>
              <a:rPr lang="en-US" sz="2350" spc="-12" kern="100" dirty="0">
                <a:solidFill>
                  <a:srgbClr val="000000"/>
                </a:solidFill>
                <a:latin typeface="Inter Tight" pitchFamily="34" charset="0"/>
                <a:ea typeface="Inter Tight" pitchFamily="34" charset="-122"/>
                <a:cs typeface="Inter Tight" pitchFamily="34" charset="0"/>
              </a:rPr>
              <a:t>19.29%</a:t>
            </a:r>
            <a:endParaRPr lang="en-US" sz="2350" dirty="0"/>
          </a:p>
        </p:txBody>
      </p:sp>
      <p:sp>
        <p:nvSpPr>
          <p:cNvPr id="11" name="Shape 8"/>
          <p:cNvSpPr/>
          <p:nvPr/>
        </p:nvSpPr>
        <p:spPr>
          <a:xfrm>
            <a:off x="6172046" y="4483894"/>
            <a:ext cx="2654234" cy="1447105"/>
          </a:xfrm>
          <a:prstGeom prst="roundRect">
            <a:avLst>
              <a:gd name="adj" fmla="val 790"/>
            </a:avLst>
          </a:prstGeom>
          <a:solidFill>
            <a:srgbClr val="A186F3"/>
          </a:solidFill>
          <a:ln/>
        </p:spPr>
      </p:sp>
      <p:sp>
        <p:nvSpPr>
          <p:cNvPr id="12" name="Text 9"/>
          <p:cNvSpPr/>
          <p:nvPr/>
        </p:nvSpPr>
        <p:spPr>
          <a:xfrm>
            <a:off x="6400640" y="4716609"/>
            <a:ext cx="2425639" cy="21213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ACCURACY DECREASE</a:t>
            </a:r>
            <a:endParaRPr lang="en-US" sz="1300" dirty="0"/>
          </a:p>
        </p:txBody>
      </p:sp>
      <p:sp>
        <p:nvSpPr>
          <p:cNvPr id="13" name="Text 10"/>
          <p:cNvSpPr/>
          <p:nvPr/>
        </p:nvSpPr>
        <p:spPr>
          <a:xfrm>
            <a:off x="6400640" y="5129126"/>
            <a:ext cx="2197045" cy="376535"/>
          </a:xfrm>
          <a:prstGeom prst="rect">
            <a:avLst/>
          </a:prstGeom>
          <a:noFill/>
          <a:ln/>
        </p:spPr>
        <p:txBody>
          <a:bodyPr wrap="none" lIns="0" tIns="0" rIns="0" bIns="0" rtlCol="0" anchor="t"/>
          <a:lstStyle/>
          <a:p>
            <a:pPr algn="l" indent="0" marL="0">
              <a:lnSpc>
                <a:spcPct val="104000"/>
              </a:lnSpc>
              <a:buNone/>
            </a:pPr>
            <a:r>
              <a:rPr lang="en-US" sz="2350" spc="-12" kern="100" dirty="0">
                <a:solidFill>
                  <a:srgbClr val="121212"/>
                </a:solidFill>
                <a:latin typeface="Inter Tight" pitchFamily="34" charset="0"/>
                <a:ea typeface="Inter Tight" pitchFamily="34" charset="-122"/>
                <a:cs typeface="Inter Tight" pitchFamily="34" charset="0"/>
              </a:rPr>
              <a:t>0.33 pp</a:t>
            </a:r>
            <a:endParaRPr lang="en-US" sz="2350" dirty="0"/>
          </a:p>
        </p:txBody>
      </p:sp>
      <p:sp>
        <p:nvSpPr>
          <p:cNvPr id="14" name="Shape 11"/>
          <p:cNvSpPr/>
          <p:nvPr/>
        </p:nvSpPr>
        <p:spPr>
          <a:xfrm>
            <a:off x="8978675" y="4483894"/>
            <a:ext cx="2654234" cy="1447105"/>
          </a:xfrm>
          <a:prstGeom prst="roundRect">
            <a:avLst>
              <a:gd name="adj" fmla="val 790"/>
            </a:avLst>
          </a:prstGeom>
          <a:solidFill>
            <a:srgbClr val="A186F3"/>
          </a:solidFill>
          <a:ln/>
        </p:spPr>
      </p:sp>
      <p:sp>
        <p:nvSpPr>
          <p:cNvPr id="15" name="Text 12"/>
          <p:cNvSpPr/>
          <p:nvPr/>
        </p:nvSpPr>
        <p:spPr>
          <a:xfrm>
            <a:off x="9207270" y="4716609"/>
            <a:ext cx="2197045" cy="424259"/>
          </a:xfrm>
          <a:prstGeom prst="rect">
            <a:avLst/>
          </a:prstGeom>
          <a:noFill/>
          <a:ln/>
        </p:spPr>
        <p:txBody>
          <a:bodyPr wrap="square" lIns="0" tIns="0" rIns="0" bIns="0" rtlCol="0" anchor="t">
            <a:normAutofit/>
          </a:bodyPr>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MEASURED LATENCY INCREASE</a:t>
            </a:r>
            <a:endParaRPr lang="en-US" sz="1300" dirty="0"/>
          </a:p>
        </p:txBody>
      </p:sp>
      <p:sp>
        <p:nvSpPr>
          <p:cNvPr id="16" name="Text 13"/>
          <p:cNvSpPr/>
          <p:nvPr/>
        </p:nvSpPr>
        <p:spPr>
          <a:xfrm>
            <a:off x="9207270" y="5341256"/>
            <a:ext cx="2197045" cy="376535"/>
          </a:xfrm>
          <a:prstGeom prst="rect">
            <a:avLst/>
          </a:prstGeom>
          <a:noFill/>
          <a:ln/>
        </p:spPr>
        <p:txBody>
          <a:bodyPr wrap="none" lIns="0" tIns="0" rIns="0" bIns="0" rtlCol="0" anchor="t"/>
          <a:lstStyle/>
          <a:p>
            <a:pPr algn="l" indent="0" marL="0">
              <a:lnSpc>
                <a:spcPct val="104000"/>
              </a:lnSpc>
              <a:buNone/>
            </a:pPr>
            <a:r>
              <a:rPr lang="en-US" sz="2350" spc="-12" kern="100" dirty="0">
                <a:solidFill>
                  <a:srgbClr val="121212"/>
                </a:solidFill>
                <a:latin typeface="Inter Tight" pitchFamily="34" charset="0"/>
                <a:ea typeface="Inter Tight" pitchFamily="34" charset="-122"/>
                <a:cs typeface="Inter Tight" pitchFamily="34" charset="0"/>
              </a:rPr>
              <a:t>23.41%</a:t>
            </a:r>
            <a:endParaRPr lang="en-US" sz="2350" dirty="0"/>
          </a:p>
        </p:txBody>
      </p:sp>
      <p:sp>
        <p:nvSpPr>
          <p:cNvPr id="17" name="Text 14"/>
          <p:cNvSpPr/>
          <p:nvPr/>
        </p:nvSpPr>
        <p:spPr>
          <a:xfrm>
            <a:off x="558786" y="6129469"/>
            <a:ext cx="11074123" cy="572889"/>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0"/>
              </a:rPr>
              <a:t>Genetic Algorithm-based structured pruning combined with Knowledge Distillation reduced model size and computational cost while preserving nearly the same classification accuracy; however, inference latency requires further optimization.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58786" y="388620"/>
            <a:ext cx="1163290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0"/>
              </a:rPr>
              <a:t>09 / CONCLUSION AND FUTURE SCOPE</a:t>
            </a:r>
            <a:endParaRPr lang="en-US" sz="1300" dirty="0"/>
          </a:p>
        </p:txBody>
      </p:sp>
      <p:sp>
        <p:nvSpPr>
          <p:cNvPr id="3" name="Text 1"/>
          <p:cNvSpPr/>
          <p:nvPr/>
        </p:nvSpPr>
        <p:spPr>
          <a:xfrm>
            <a:off x="558786" y="709660"/>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Completed work and proposed future work</a:t>
            </a:r>
            <a:endParaRPr lang="en-US" sz="3400" dirty="0"/>
          </a:p>
        </p:txBody>
      </p:sp>
      <p:sp>
        <p:nvSpPr>
          <p:cNvPr id="4" name="Shape 2"/>
          <p:cNvSpPr/>
          <p:nvPr/>
        </p:nvSpPr>
        <p:spPr>
          <a:xfrm>
            <a:off x="558786" y="1312466"/>
            <a:ext cx="5308467" cy="5240734"/>
          </a:xfrm>
          <a:prstGeom prst="rect">
            <a:avLst/>
          </a:prstGeom>
          <a:solidFill>
            <a:srgbClr val="A186F3"/>
          </a:solidFill>
          <a:ln/>
        </p:spPr>
      </p:sp>
      <p:sp>
        <p:nvSpPr>
          <p:cNvPr id="5" name="Text 3"/>
          <p:cNvSpPr/>
          <p:nvPr/>
        </p:nvSpPr>
        <p:spPr>
          <a:xfrm>
            <a:off x="787380" y="1544558"/>
            <a:ext cx="5079873" cy="214610"/>
          </a:xfrm>
          <a:prstGeom prst="rect">
            <a:avLst/>
          </a:prstGeom>
          <a:noFill/>
          <a:ln/>
        </p:spPr>
        <p:txBody>
          <a:bodyPr wrap="none" lIns="0" tIns="0" rIns="0" bIns="0" rtlCol="0" anchor="t"/>
          <a:lstStyle/>
          <a:p>
            <a:pPr algn="l" indent="0" marL="0">
              <a:lnSpc>
                <a:spcPct val="108000"/>
              </a:lnSpc>
              <a:buNone/>
            </a:pPr>
            <a:r>
              <a:rPr lang="en-US" sz="1300" dirty="0">
                <a:solidFill>
                  <a:srgbClr val="000000"/>
                </a:solidFill>
                <a:latin typeface="Fragment Mono" pitchFamily="34" charset="0"/>
                <a:ea typeface="Fragment Mono" pitchFamily="34" charset="-122"/>
                <a:cs typeface="Fragment Mono" pitchFamily="34" charset="0"/>
              </a:rPr>
              <a:t>COMPLETED</a:t>
            </a:r>
            <a:endParaRPr lang="en-US" sz="1300" dirty="0"/>
          </a:p>
        </p:txBody>
      </p:sp>
      <p:sp>
        <p:nvSpPr>
          <p:cNvPr id="6" name="Text 4"/>
          <p:cNvSpPr/>
          <p:nvPr/>
        </p:nvSpPr>
        <p:spPr>
          <a:xfrm>
            <a:off x="787380" y="1963638"/>
            <a:ext cx="4851279"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000000"/>
                </a:solidFill>
                <a:latin typeface="Inter Tight" pitchFamily="34" charset="0"/>
                <a:ea typeface="Inter Tight" pitchFamily="34" charset="-122"/>
                <a:cs typeface="Inter Tight" pitchFamily="34" charset="0"/>
              </a:rPr>
              <a:t>Conclusion</a:t>
            </a:r>
            <a:endParaRPr lang="en-US" sz="2400" dirty="0"/>
          </a:p>
        </p:txBody>
      </p:sp>
      <p:sp>
        <p:nvSpPr>
          <p:cNvPr id="7" name="Text 5"/>
          <p:cNvSpPr/>
          <p:nvPr/>
        </p:nvSpPr>
        <p:spPr>
          <a:xfrm>
            <a:off x="787380" y="2485926"/>
            <a:ext cx="4851279" cy="2493169"/>
          </a:xfrm>
          <a:prstGeom prst="rect">
            <a:avLst/>
          </a:prstGeom>
          <a:noFill/>
          <a:ln/>
        </p:spPr>
        <p:txBody>
          <a:bodyPr wrap="square" lIns="0" tIns="0" rIns="0" bIns="0" rtlCol="0" anchor="t">
            <a:normAutofit/>
          </a:bodyPr>
          <a:lstStyle/>
          <a:p>
            <a:pPr algn="l" marL="345440" indent="-345440">
              <a:lnSpc>
                <a:spcPct val="112000"/>
              </a:lnSpc>
              <a:buSzPct val="100000"/>
              <a:buChar char="•"/>
            </a:pPr>
            <a:r>
              <a:rPr lang="en-US" sz="1700" dirty="0">
                <a:solidFill>
                  <a:srgbClr val="000000"/>
                </a:solidFill>
                <a:latin typeface="Inter Tight" pitchFamily="34" charset="0"/>
                <a:ea typeface="Inter Tight" pitchFamily="34" charset="-122"/>
                <a:cs typeface="Inter Tight" pitchFamily="34" charset="0"/>
              </a:rPr>
              <a:t>Developed and evaluated the original CNN and the GA-pruned student</a:t>
            </a:r>
            <a:endParaRPr lang="en-US" sz="1700" dirty="0"/>
          </a:p>
          <a:p>
            <a:pPr algn="l" marL="345440" indent="-345440">
              <a:lnSpc>
                <a:spcPct val="112000"/>
              </a:lnSpc>
              <a:buSzPct val="100000"/>
              <a:buChar char="•"/>
            </a:pPr>
            <a:r>
              <a:rPr lang="en-US" sz="1700" dirty="0">
                <a:solidFill>
                  <a:srgbClr val="000000"/>
                </a:solidFill>
                <a:latin typeface="Inter Tight" pitchFamily="34" charset="0"/>
                <a:ea typeface="Inter Tight" pitchFamily="34" charset="-122"/>
                <a:cs typeface="Inter Tight" pitchFamily="34" charset="0"/>
              </a:rPr>
              <a:t>Reduced parameters by 25.99% and MACs by 19.29%</a:t>
            </a:r>
            <a:endParaRPr lang="en-US" sz="1700" dirty="0"/>
          </a:p>
          <a:p>
            <a:pPr algn="l" marL="345440" indent="-345440">
              <a:lnSpc>
                <a:spcPct val="112000"/>
              </a:lnSpc>
              <a:buSzPct val="100000"/>
              <a:buChar char="•"/>
            </a:pPr>
            <a:r>
              <a:rPr lang="en-US" sz="1700" dirty="0">
                <a:solidFill>
                  <a:srgbClr val="000000"/>
                </a:solidFill>
                <a:latin typeface="Inter Tight" pitchFamily="34" charset="0"/>
                <a:ea typeface="Inter Tight" pitchFamily="34" charset="-122"/>
                <a:cs typeface="Inter Tight" pitchFamily="34" charset="0"/>
              </a:rPr>
              <a:t>Retained 79.00% student accuracy vs 79.33% teacher</a:t>
            </a:r>
            <a:endParaRPr lang="en-US" sz="1700" dirty="0"/>
          </a:p>
          <a:p>
            <a:pPr algn="l" marL="345440" indent="-345440">
              <a:lnSpc>
                <a:spcPct val="112000"/>
              </a:lnSpc>
              <a:buSzPct val="100000"/>
              <a:buChar char="•"/>
            </a:pPr>
            <a:r>
              <a:rPr lang="en-US" sz="1700" dirty="0">
                <a:solidFill>
                  <a:srgbClr val="000000"/>
                </a:solidFill>
                <a:latin typeface="Inter Tight" pitchFamily="34" charset="0"/>
                <a:ea typeface="Inter Tight" pitchFamily="34" charset="-122"/>
                <a:cs typeface="Inter Tight" pitchFamily="34" charset="0"/>
              </a:rPr>
              <a:t>Observed a 23.41% increase in measured latency</a:t>
            </a:r>
            <a:endParaRPr lang="en-US" sz="1700" dirty="0"/>
          </a:p>
        </p:txBody>
      </p:sp>
      <p:sp>
        <p:nvSpPr>
          <p:cNvPr id="8" name="Shape 6"/>
          <p:cNvSpPr/>
          <p:nvPr/>
        </p:nvSpPr>
        <p:spPr>
          <a:xfrm>
            <a:off x="6324442" y="1312466"/>
            <a:ext cx="5308467" cy="5240734"/>
          </a:xfrm>
          <a:prstGeom prst="roundRect">
            <a:avLst>
              <a:gd name="adj" fmla="val 218"/>
            </a:avLst>
          </a:prstGeom>
          <a:solidFill>
            <a:srgbClr val="A186F3"/>
          </a:solidFill>
          <a:ln/>
        </p:spPr>
      </p:sp>
      <p:sp>
        <p:nvSpPr>
          <p:cNvPr id="9" name="Text 7"/>
          <p:cNvSpPr/>
          <p:nvPr/>
        </p:nvSpPr>
        <p:spPr>
          <a:xfrm>
            <a:off x="6553036" y="1544558"/>
            <a:ext cx="5079873"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PROPOSED — NOT YET DONE</a:t>
            </a:r>
            <a:endParaRPr lang="en-US" sz="1300" dirty="0"/>
          </a:p>
        </p:txBody>
      </p:sp>
      <p:sp>
        <p:nvSpPr>
          <p:cNvPr id="10" name="Text 8"/>
          <p:cNvSpPr/>
          <p:nvPr/>
        </p:nvSpPr>
        <p:spPr>
          <a:xfrm>
            <a:off x="6553036" y="1963638"/>
            <a:ext cx="4851279"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121212"/>
                </a:solidFill>
                <a:latin typeface="Inter Tight" pitchFamily="34" charset="0"/>
                <a:ea typeface="Inter Tight" pitchFamily="34" charset="-122"/>
                <a:cs typeface="Inter Tight" pitchFamily="34" charset="0"/>
              </a:rPr>
              <a:t>Future scope</a:t>
            </a:r>
            <a:endParaRPr lang="en-US" sz="2400" dirty="0"/>
          </a:p>
        </p:txBody>
      </p:sp>
      <p:sp>
        <p:nvSpPr>
          <p:cNvPr id="11" name="Text 9"/>
          <p:cNvSpPr/>
          <p:nvPr/>
        </p:nvSpPr>
        <p:spPr>
          <a:xfrm>
            <a:off x="6553036" y="2485926"/>
            <a:ext cx="4851279" cy="2309713"/>
          </a:xfrm>
          <a:prstGeom prst="rect">
            <a:avLst/>
          </a:prstGeom>
          <a:noFill/>
          <a:ln/>
        </p:spPr>
        <p:txBody>
          <a:bodyPr wrap="square" lIns="0" tIns="0" rIns="0" bIns="0" rtlCol="0" anchor="t">
            <a:normAutofit/>
          </a:bodyPr>
          <a:lstStyle/>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0"/>
              </a:rPr>
              <a:t>Different pruning ratios and GA fitness functions</a:t>
            </a:r>
            <a:endParaRPr lang="en-US" sz="1700" dirty="0"/>
          </a:p>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0"/>
              </a:rPr>
              <a:t>Compare uniform pruning, Taylor-based pruning, and KD-only models</a:t>
            </a:r>
            <a:endParaRPr lang="en-US" sz="1700" dirty="0"/>
          </a:p>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0"/>
              </a:rPr>
              <a:t>Multiple random seeds</a:t>
            </a:r>
            <a:endParaRPr lang="en-US" sz="1700" dirty="0"/>
          </a:p>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0"/>
              </a:rPr>
              <a:t>Additional architectures and datasets</a:t>
            </a:r>
            <a:endParaRPr lang="en-US" sz="1700" dirty="0"/>
          </a:p>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0"/>
              </a:rPr>
              <a:t>CPU, GPU, and edge latency</a:t>
            </a:r>
            <a:endParaRPr lang="en-US" sz="1700" dirty="0"/>
          </a:p>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0"/>
              </a:rPr>
              <a:t>Hardware-aware pruning</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58786" y="3918348"/>
            <a:ext cx="11074123" cy="965200"/>
          </a:xfrm>
          <a:prstGeom prst="rect">
            <a:avLst/>
          </a:prstGeom>
          <a:noFill/>
          <a:ln/>
        </p:spPr>
        <p:txBody>
          <a:bodyPr wrap="none" lIns="0" tIns="0" rIns="0" bIns="0" rtlCol="0" anchor="t"/>
          <a:lstStyle/>
          <a:p>
            <a:pPr algn="l" indent="0" marL="0">
              <a:lnSpc>
                <a:spcPct val="79000"/>
              </a:lnSpc>
              <a:buNone/>
            </a:pPr>
            <a:r>
              <a:rPr lang="en-US" sz="8000" spc="-360" kern="100" dirty="0">
                <a:solidFill>
                  <a:srgbClr val="000000"/>
                </a:solidFill>
                <a:latin typeface="Inter Tight SemiBold" pitchFamily="34" charset="0"/>
                <a:ea typeface="Inter Tight SemiBold" pitchFamily="34" charset="-122"/>
                <a:cs typeface="Inter Tight SemiBold" pitchFamily="34" charset="0"/>
              </a:rPr>
              <a:t>THANK YOU</a:t>
            </a:r>
            <a:endParaRPr lang="en-US" sz="8000" dirty="0"/>
          </a:p>
        </p:txBody>
      </p:sp>
      <p:sp>
        <p:nvSpPr>
          <p:cNvPr id="3" name="Text 1"/>
          <p:cNvSpPr/>
          <p:nvPr/>
        </p:nvSpPr>
        <p:spPr>
          <a:xfrm>
            <a:off x="558786" y="4996704"/>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000000"/>
                </a:solidFill>
                <a:latin typeface="Inter Tight SemiBold" pitchFamily="34" charset="0"/>
                <a:ea typeface="Inter Tight SemiBold" pitchFamily="34" charset="-122"/>
                <a:cs typeface="Inter Tight SemiBold" pitchFamily="34" charset="0"/>
              </a:rPr>
              <a:t>Questions?</a:t>
            </a:r>
            <a:endParaRPr lang="en-US" sz="3400" dirty="0"/>
          </a:p>
        </p:txBody>
      </p:sp>
      <p:sp>
        <p:nvSpPr>
          <p:cNvPr id="4" name="Text 2"/>
          <p:cNvSpPr/>
          <p:nvPr/>
        </p:nvSpPr>
        <p:spPr>
          <a:xfrm>
            <a:off x="558786" y="5607606"/>
            <a:ext cx="11632909" cy="291405"/>
          </a:xfrm>
          <a:prstGeom prst="rect">
            <a:avLst/>
          </a:prstGeom>
          <a:noFill/>
          <a:ln/>
        </p:spPr>
        <p:txBody>
          <a:bodyPr wrap="none" lIns="0" tIns="0" rIns="0" bIns="0" rtlCol="0" anchor="t"/>
          <a:lstStyle/>
          <a:p>
            <a:pPr algn="l" indent="0" marL="0">
              <a:lnSpc>
                <a:spcPct val="112000"/>
              </a:lnSpc>
              <a:buNone/>
            </a:pPr>
            <a:r>
              <a:rPr lang="en-US" sz="1700" dirty="0">
                <a:solidFill>
                  <a:srgbClr val="000000"/>
                </a:solidFill>
                <a:latin typeface="Inter Tight" pitchFamily="34" charset="0"/>
                <a:ea typeface="Inter Tight" pitchFamily="34" charset="-122"/>
                <a:cs typeface="Inter Tight" pitchFamily="34" charset="0"/>
              </a:rPr>
              <a:t>CNN Pruning Using Genetic Algorithms and Knowledge Distillation</a:t>
            </a:r>
            <a:endParaRPr lang="en-US" sz="1700" dirty="0"/>
          </a:p>
        </p:txBody>
      </p:sp>
      <p:sp>
        <p:nvSpPr>
          <p:cNvPr id="5" name="Text 3"/>
          <p:cNvSpPr/>
          <p:nvPr/>
        </p:nvSpPr>
        <p:spPr>
          <a:xfrm>
            <a:off x="558786" y="6088082"/>
            <a:ext cx="11632909" cy="214610"/>
          </a:xfrm>
          <a:prstGeom prst="rect">
            <a:avLst/>
          </a:prstGeom>
          <a:noFill/>
          <a:ln/>
        </p:spPr>
        <p:txBody>
          <a:bodyPr wrap="none" lIns="0" tIns="0" rIns="0" bIns="0" rtlCol="0" anchor="t"/>
          <a:lstStyle/>
          <a:p>
            <a:pPr algn="l" indent="0" marL="0">
              <a:lnSpc>
                <a:spcPct val="108000"/>
              </a:lnSpc>
              <a:buNone/>
            </a:pPr>
            <a:r>
              <a:rPr lang="en-US" sz="1300" dirty="0">
                <a:solidFill>
                  <a:srgbClr val="000000"/>
                </a:solidFill>
                <a:latin typeface="Fragment Mono" pitchFamily="34" charset="0"/>
                <a:ea typeface="Fragment Mono" pitchFamily="34" charset="-122"/>
                <a:cs typeface="Fragment Mono" pitchFamily="34" charset="0"/>
              </a:rPr>
              <a:t>BHEESHMA SHANKAR A | 160124748093 · CBIT | CSE (AI &amp; ML)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2026-10-30T17:31:07Z</dcterms:created>
  <dcterms:modified xsi:type="dcterms:W3CDTF">2026-10-30T17:31:07Z</dcterms:modified>
</cp:coreProperties>
</file>