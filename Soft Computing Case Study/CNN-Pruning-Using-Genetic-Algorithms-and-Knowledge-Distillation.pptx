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Lexend Medium" panose="020B0604020202020204" charset="0"/>
      <p:regular r:id="rId19"/>
    </p:embeddedFont>
    <p:embeddedFont>
      <p:font typeface="Martian Mono Medium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33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case study as a compression problem: search for useful channel reductions, then use knowledge distillation to help the smaller model retain the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title is descriptive. The Genetic Algorithm chooses pruning ratios, structured pruning changes the network, and Knowledge Distillation helps the student learn from the teacher.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objective has four parts: parameter reduction, computational efficiency measured by MACs, accuracy preservation, and latency evaluation before and after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CIFAR-10 contains ten image classes. Each image is a 32 × 32 colour image, and the dataset of 60,000 images is split into 45,000 training, 5,000 validation, and 10,000 testing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workflow from left to right. The teacher CNN is trained on CIFAR-10, the Genetic Algorithm searches channel-pruning ratios, channels are pruned, and the student CNN is trained with Knowledge Distillation before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student keeps the three convolutional stages. Conv1 changes from 32 to 28 channels and Conv3 from 128 to 94; Conv2 stays at 64. The fully connected layer has 256 units in both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Parameters fell by 25.99% and MACs by 19.29%, while test accuracy decreased by 0.33 percentage points. Measured latency increased from 1.3488 to 1.6645 milliseconds 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student achieved similar accuracy with fewer parameters and MACs, but measured latency increased despite compression. Lower computational complexity does not automatically guarantee faster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work: GA-based structured pruning, KD, a slight accuracy decrease, and higher measured latency. Future scope lists proposed improvements that have not been carried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If discussion begins, return to the central interpretation: the method achieved meaningful structural compression, but measured latency must be treated as a separate deployment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299250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SOFT COMPUTING ·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1182" y="1640155"/>
            <a:ext cx="10769331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CNN Pruning Using Genetic Algorithms and Knowledge Distillation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11182" y="3170634"/>
            <a:ext cx="10769331" cy="109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21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Soft Computing – Case Study Presentation</a:t>
            </a:r>
            <a:endParaRPr lang="en-US" sz="24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Presented by: Bheeshma Shankar 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1182" y="4539655"/>
            <a:ext cx="10769331" cy="1239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100"/>
              </a:spcAft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Roll Number: 160124748093</a:t>
            </a:r>
            <a:endParaRPr lang="en-US" sz="1400" dirty="0"/>
          </a:p>
          <a:p>
            <a:pPr marL="0" indent="0" algn="l">
              <a:lnSpc>
                <a:spcPct val="108000"/>
              </a:lnSpc>
              <a:spcAft>
                <a:spcPts val="2100"/>
              </a:spcAft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Department: CSE (Artificial Intelligence and Machine Learning)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College: Chaitanya Bharathi Institute of Technology (CBIT), Hyderabad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JUSTIFICATION OF THE TITLE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0927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Why this title fits 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10972526" cy="318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CNNs provide effective image classification but may require significant computational resources.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Structured pruning removes selected channels to reduce model complexity.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Genetic Algorithms (GA) search for suitable channel-pruning configurations.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Knowledge Distillation (KD) transfers useful knowledge from a larger teacher model to a smaller student model.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title reflects the combination of GA-based pruning and KD to balance model efficiency and accuracy.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5100042"/>
            <a:ext cx="2514537" cy="1155700"/>
          </a:xfrm>
          <a:prstGeom prst="roundRect">
            <a:avLst>
              <a:gd name="adj" fmla="val 13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7229" y="5360392"/>
            <a:ext cx="201924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Teacher CNN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8914" y="5100042"/>
            <a:ext cx="2514537" cy="1155700"/>
          </a:xfrm>
          <a:prstGeom prst="roundRect">
            <a:avLst>
              <a:gd name="adj" fmla="val 13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76558" y="5360392"/>
            <a:ext cx="20192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GA-Based Pruning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48244" y="5100042"/>
            <a:ext cx="2514537" cy="1155700"/>
          </a:xfrm>
          <a:prstGeom prst="roundRect">
            <a:avLst>
              <a:gd name="adj" fmla="val 13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5887" y="5360392"/>
            <a:ext cx="20192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Knowledge Distillation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067573" y="5100042"/>
            <a:ext cx="2514537" cy="1155700"/>
          </a:xfrm>
          <a:prstGeom prst="roundRect">
            <a:avLst>
              <a:gd name="adj" fmla="val 13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15217" y="5360392"/>
            <a:ext cx="20192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Compressed Student CNN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17089" cy="6858000"/>
          </a:xfrm>
          <a:prstGeom prst="roundRect">
            <a:avLst>
              <a:gd name="adj" fmla="val 292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28634" y="2467451"/>
            <a:ext cx="456940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PRIMARY OBJECTIVE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8634" y="2781633"/>
            <a:ext cx="3959820" cy="1635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Reduce CNN model complexity while maintaining classification accuracy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78971" y="626745"/>
            <a:ext cx="621272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FOUR OBJECTIVES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78971" y="1080691"/>
            <a:ext cx="2725372" cy="1991916"/>
          </a:xfrm>
          <a:prstGeom prst="roundRect">
            <a:avLst>
              <a:gd name="adj" fmla="val 765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26615" y="1341041"/>
            <a:ext cx="223008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Parameter Reduction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26615" y="2211626"/>
            <a:ext cx="223008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Reduce trainable parameters.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56739" y="1080691"/>
            <a:ext cx="2725372" cy="1991916"/>
          </a:xfrm>
          <a:prstGeom prst="roundRect">
            <a:avLst>
              <a:gd name="adj" fmla="val 765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04382" y="1341041"/>
            <a:ext cx="223008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Computational Efficiency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04382" y="2211626"/>
            <a:ext cx="247772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Reduce MACs.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78971" y="3225006"/>
            <a:ext cx="2725372" cy="2300486"/>
          </a:xfrm>
          <a:prstGeom prst="roundRect">
            <a:avLst>
              <a:gd name="adj" fmla="val 6625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6615" y="3485356"/>
            <a:ext cx="223008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Accuracy Preservation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26615" y="4355941"/>
            <a:ext cx="2230084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Maintain performance close to the original CNN.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56739" y="3225006"/>
            <a:ext cx="2725372" cy="2300486"/>
          </a:xfrm>
          <a:prstGeom prst="roundRect">
            <a:avLst>
              <a:gd name="adj" fmla="val 6625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04382" y="3485356"/>
            <a:ext cx="223008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Latency Evaluation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04382" y="4355941"/>
            <a:ext cx="2230084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Measure inference time before and after compression.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54100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DATASET · CIFAR-10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0927"/>
            <a:ext cx="4800480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CIFAR-10 contains images from 10 classes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57519"/>
            <a:ext cx="4800480" cy="205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Each image is a 32 × 32 colour image. The dataset contains 60,000 images divided into training, validation, and testing sets.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4398347"/>
            <a:ext cx="54100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DATASET SPLIT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852293"/>
            <a:ext cx="4800480" cy="13264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6306701"/>
            <a:ext cx="541006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Total: 60,000 images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81630" y="626745"/>
            <a:ext cx="54100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THE TEN CLASSES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1630" y="1080691"/>
          <a:ext cx="4800480" cy="4437449"/>
        </p:xfrm>
        <a:graphic>
          <a:graphicData uri="http://schemas.openxmlformats.org/drawingml/2006/table">
            <a:tbl>
              <a:tblPr/>
              <a:tblGrid>
                <a:gridCol w="240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5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Classes 1–5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Classes 6–10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Airplane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Dog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Automobile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Frog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Bird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Horse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Cat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Ship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1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Deer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Truck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71145"/>
            <a:ext cx="63143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PROPOSED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585327"/>
            <a:ext cx="631432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Five steps combine search, pruning, and teaching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87" y="1695252"/>
            <a:ext cx="6314322" cy="400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Train Teacher CNN</a:t>
            </a:r>
            <a:r>
              <a:rPr lang="en-US" sz="16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train the original CNN on CIFAR-10.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16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Genetic Algorithm</a:t>
            </a:r>
            <a:r>
              <a:rPr lang="en-US" sz="16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search for suitable channel-pruning ratios.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16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Construct Student CNN</a:t>
            </a:r>
            <a:r>
              <a:rPr lang="en-US" sz="16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build a smaller network using selected channels.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16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Knowledge Distillation</a:t>
            </a:r>
            <a:r>
              <a:rPr lang="en-US" sz="16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train the student using knowledge from the teacher.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5"/>
            </a:pPr>
            <a:r>
              <a:rPr lang="en-US" sz="16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Performance Evaluation</a:t>
            </a:r>
            <a:r>
              <a:rPr lang="en-US" sz="16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compare accuracy, precision, recall, F1-score, parameters, MACs, and latency.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74606" y="271145"/>
            <a:ext cx="52170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74606" y="725091"/>
            <a:ext cx="2443399" cy="803870"/>
          </a:xfrm>
          <a:prstGeom prst="roundRect">
            <a:avLst>
              <a:gd name="adj" fmla="val 18958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22250" y="976551"/>
            <a:ext cx="219575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CIFAR-10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70401" y="725091"/>
            <a:ext cx="2443498" cy="803870"/>
          </a:xfrm>
          <a:prstGeom prst="roundRect">
            <a:avLst>
              <a:gd name="adj" fmla="val 18958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18045" y="976551"/>
            <a:ext cx="219585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Teacher CNN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74606" y="1681262"/>
            <a:ext cx="2443399" cy="1112441"/>
          </a:xfrm>
          <a:prstGeom prst="roundRect">
            <a:avLst>
              <a:gd name="adj" fmla="val 1369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2250" y="1932722"/>
            <a:ext cx="194811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Genetic Algorithm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70401" y="1681262"/>
            <a:ext cx="2443498" cy="1112441"/>
          </a:xfrm>
          <a:prstGeom prst="roundRect">
            <a:avLst>
              <a:gd name="adj" fmla="val 1369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18045" y="1932722"/>
            <a:ext cx="219585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Channel Pruning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74606" y="2946003"/>
            <a:ext cx="2443399" cy="1112441"/>
          </a:xfrm>
          <a:prstGeom prst="roundRect">
            <a:avLst>
              <a:gd name="adj" fmla="val 1369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2250" y="3197463"/>
            <a:ext cx="194811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Student CNN + KD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70401" y="2946003"/>
            <a:ext cx="2443498" cy="1112441"/>
          </a:xfrm>
          <a:prstGeom prst="roundRect">
            <a:avLst>
              <a:gd name="adj" fmla="val 1369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18045" y="3197463"/>
            <a:ext cx="194821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E6E9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Performance Evaluation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271145"/>
            <a:ext cx="892539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IMPLEMENTATION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04792" y="585327"/>
            <a:ext cx="8620604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Original CNN vs pruned student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792" y="1286371"/>
          <a:ext cx="8620604" cy="3763274"/>
        </p:xfrm>
        <a:graphic>
          <a:graphicData uri="http://schemas.openxmlformats.org/drawingml/2006/table">
            <a:tbl>
              <a:tblPr/>
              <a:tblGrid>
                <a:gridCol w="362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5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Layer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Original CNN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Pruned student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Convolutional layer 1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32 channels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28 channels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Convolutional layer 2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64 channels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64 channels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Convolutional layer 3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128 channels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94 channels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1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Fully connected layer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256 units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256 units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04792" y="5326916"/>
            <a:ext cx="8620604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GA selected the channel-pruning configuration; structured pruning reduced channels in selected layers; KD trained the smaller student model.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382486" y="0"/>
            <a:ext cx="2809209" cy="6858000"/>
          </a:xfrm>
          <a:prstGeom prst="roundRect">
            <a:avLst>
              <a:gd name="adj" fmla="val 5425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4" name="Text 4"/>
          <p:cNvSpPr/>
          <p:nvPr/>
        </p:nvSpPr>
        <p:spPr>
          <a:xfrm>
            <a:off x="9579331" y="188595"/>
            <a:ext cx="2415519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TEACHER-TO-STUDENT KD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579331" y="840581"/>
            <a:ext cx="2415519" cy="1623616"/>
          </a:xfrm>
          <a:prstGeom prst="rect">
            <a:avLst/>
          </a:prstGeom>
          <a:solidFill>
            <a:srgbClr val="FF9347"/>
          </a:solidFill>
          <a:ln/>
        </p:spPr>
      </p:sp>
      <p:sp>
        <p:nvSpPr>
          <p:cNvPr id="9" name="Text 6"/>
          <p:cNvSpPr/>
          <p:nvPr/>
        </p:nvSpPr>
        <p:spPr>
          <a:xfrm>
            <a:off x="9807925" y="1081881"/>
            <a:ext cx="19583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Teacher CNN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807925" y="1622266"/>
            <a:ext cx="195833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Original architecture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79331" y="2849007"/>
            <a:ext cx="241551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↓ Knowledge Distillation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579331" y="3843338"/>
            <a:ext cx="2415519" cy="1623616"/>
          </a:xfrm>
          <a:prstGeom prst="rect">
            <a:avLst/>
          </a:prstGeom>
          <a:solidFill>
            <a:srgbClr val="FF9347"/>
          </a:solidFill>
          <a:ln/>
        </p:spPr>
      </p:sp>
      <p:sp>
        <p:nvSpPr>
          <p:cNvPr id="13" name="Text 10"/>
          <p:cNvSpPr/>
          <p:nvPr/>
        </p:nvSpPr>
        <p:spPr>
          <a:xfrm>
            <a:off x="9807925" y="4084637"/>
            <a:ext cx="19583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Student CNN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807925" y="4625023"/>
            <a:ext cx="195833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Pruned architecture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579331" y="5744131"/>
            <a:ext cx="2415519" cy="92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Both models were evaluated with classification and efficiency metrics.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54100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EXPERIMENTAL RESULTS AND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0927"/>
            <a:ext cx="4800480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Test metrics: original CNN vs GA Pruning + KD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50852"/>
          <a:ext cx="4800479" cy="4345176"/>
        </p:xfrm>
        <a:graphic>
          <a:graphicData uri="http://schemas.openxmlformats.org/drawingml/2006/table">
            <a:tbl>
              <a:tblPr/>
              <a:tblGrid>
                <a:gridCol w="1920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Metric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Original CNN (M1)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GA Pruning + KD (M5)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Test accuracy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79.33%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79.00%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Macro precision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0.7924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0.7905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Macro recall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0.7933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0.7900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Macro F1-score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0.7927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0.7899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Parameters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620,810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459,436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4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MACs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10.8488 million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8.7557 million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50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Latency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1.3488 ms/image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1.6645 ms/image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72046" y="0"/>
            <a:ext cx="2933627" cy="2953544"/>
          </a:xfrm>
          <a:prstGeom prst="roundRect">
            <a:avLst>
              <a:gd name="adj" fmla="val 5195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00680" y="645795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ACCURACY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00680" y="1100217"/>
            <a:ext cx="1676358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79.33% → 79.00%: a 0.33 percentage-point decrease.</a:t>
            </a:r>
            <a:endParaRPr lang="en-US" sz="1100" dirty="0"/>
          </a:p>
        </p:txBody>
      </p:sp>
      <p:sp>
        <p:nvSpPr>
          <p:cNvPr id="4" name="Shape 5"/>
          <p:cNvSpPr/>
          <p:nvPr/>
        </p:nvSpPr>
        <p:spPr>
          <a:xfrm>
            <a:off x="9258068" y="0"/>
            <a:ext cx="2933627" cy="2953544"/>
          </a:xfrm>
          <a:prstGeom prst="roundRect">
            <a:avLst>
              <a:gd name="adj" fmla="val 5195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86703" y="645795"/>
            <a:ext cx="167635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PARAMETERS AND MACS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86703" y="1297781"/>
            <a:ext cx="1676358" cy="1027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2100"/>
              </a:spcAft>
              <a:buNone/>
            </a:pPr>
            <a:r>
              <a:rPr lang="en-US" sz="11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Parameters reduced by 25.99%.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MACs reduced by 19.29%.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046" y="3105944"/>
            <a:ext cx="6019649" cy="1916906"/>
          </a:xfrm>
          <a:prstGeom prst="roundRect">
            <a:avLst>
              <a:gd name="adj" fmla="val 7950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blurRad="201930" dist="127" dir="16200000" algn="bl" rotWithShape="0">
              <a:srgbClr val="FF9347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00680" y="3751739"/>
            <a:ext cx="537196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LATENCY · INCREASED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00680" y="4206161"/>
            <a:ext cx="537196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Inference latency rose from 1.3488 ms to 1.6645 ms per image.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36931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RESULTS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0927"/>
            <a:ext cx="3083542" cy="1635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Lower complexity does not guarantee faster inference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944813"/>
            <a:ext cx="1017463" cy="57150"/>
          </a:xfrm>
          <a:prstGeom prst="roundRect">
            <a:avLst>
              <a:gd name="adj" fmla="val 49999"/>
            </a:avLst>
          </a:prstGeom>
          <a:solidFill>
            <a:srgbClr val="287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59801" y="0"/>
            <a:ext cx="3639749" cy="6858000"/>
          </a:xfrm>
          <a:prstGeom prst="roundRect">
            <a:avLst>
              <a:gd name="adj" fmla="val 4187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82046" y="239395"/>
            <a:ext cx="341750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BENEFITS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82046" y="693341"/>
            <a:ext cx="3195260" cy="385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Similar accuracy: 79.00% vs 79.33%.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Fewer parameters: 459,436 vs 620,810.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Fewer MACs: 8.7557 million vs 10.8488 million.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551946" y="0"/>
            <a:ext cx="3639749" cy="6858000"/>
          </a:xfrm>
          <a:prstGeom prst="roundRect">
            <a:avLst>
              <a:gd name="adj" fmla="val 4187"/>
            </a:avLst>
          </a:prstGeom>
          <a:solidFill>
            <a:srgbClr val="FF9347"/>
          </a:solidFill>
          <a:ln w="19050">
            <a:solidFill>
              <a:srgbClr val="FF9347"/>
            </a:solidFill>
            <a:prstDash val="solid"/>
          </a:ln>
          <a:effectLst>
            <a:outerShdw blurRad="201930" dist="127" dir="16200000" algn="bl" rotWithShape="0">
              <a:srgbClr val="FF9347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24989" y="290195"/>
            <a:ext cx="336670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00000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TRADE-OFF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24989" y="624449"/>
            <a:ext cx="3093662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100" spc="-38" dirty="0">
                <a:solidFill>
                  <a:srgbClr val="0B0B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Smaller</a:t>
            </a:r>
            <a:endParaRPr lang="en-US" sz="38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800" kern="100" spc="-38" dirty="0">
                <a:solidFill>
                  <a:srgbClr val="0B0B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is not always faster.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824989" y="2466796"/>
            <a:ext cx="3093662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Latency increased from 1.3488 to 1.6645 ms per image despite compression.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24989" y="4383147"/>
            <a:ext cx="3093662" cy="92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Hardware, memory access, implementation overhead, and runtime conditions can change the outcome.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19649" cy="6858000"/>
          </a:xfrm>
          <a:prstGeom prst="roundRect">
            <a:avLst>
              <a:gd name="adj" fmla="val 253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28634" y="645795"/>
            <a:ext cx="537196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COMPLETED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8634" y="959977"/>
            <a:ext cx="4762381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8634" y="1661021"/>
            <a:ext cx="4762381" cy="4065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GA-based structured pruning reduced model parameters and computational operations.</a:t>
            </a:r>
            <a:endParaRPr lang="en-US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KD helped maintain classification performance close to the teacher.</a:t>
            </a:r>
            <a:endParaRPr lang="en-US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Test accuracy decreased slightly from 79.33% to 79.00%.</a:t>
            </a:r>
            <a:endParaRPr lang="en-US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student had higher measured inference latency despite reduced complexity.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81630" y="626745"/>
            <a:ext cx="54100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FUTURE SCOPE · PROPOSED, NOT COMPLETED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81630" y="940927"/>
            <a:ext cx="4800480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Proposed improvements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81630" y="1641971"/>
            <a:ext cx="4800480" cy="408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Explore different pruning ratios and GA fitness functions.</a:t>
            </a:r>
            <a:endParaRPr lang="en-US" sz="32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Compare uniform pruning, Taylor-based pruning, and KD-only models.</a:t>
            </a:r>
            <a:endParaRPr lang="en-US" sz="32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Repeat experiments with multiple random seeds.</a:t>
            </a:r>
            <a:endParaRPr lang="en-US" sz="32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Test other CNN architectures and datasets.</a:t>
            </a:r>
            <a:endParaRPr lang="en-US" sz="32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Measure latency on CPU, GPU, and edge devices.</a:t>
            </a:r>
            <a:endParaRPr lang="en-US" sz="32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Investigate hardware-aware pruning for faster real-world inference.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204819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SOFT COMPUTING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1182" y="2558157"/>
            <a:ext cx="10769331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11182" y="3634085"/>
            <a:ext cx="10769331" cy="1239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100"/>
              </a:spcAft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CNN Pruning Using Genetic Algorithms and Knowledge Distillation</a:t>
            </a:r>
            <a:endParaRPr lang="en-US" sz="1400" dirty="0"/>
          </a:p>
          <a:p>
            <a:pPr marL="0" indent="0" algn="l">
              <a:lnSpc>
                <a:spcPct val="108000"/>
              </a:lnSpc>
              <a:spcAft>
                <a:spcPts val="2100"/>
              </a:spcAft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Bheeshma Shankar A | 160124748093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CBIT | CSE (AI &amp; ML)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1041</Words>
  <Application>Microsoft Office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Lexend Medium</vt:lpstr>
      <vt:lpstr>Calibri</vt:lpstr>
      <vt:lpstr>Inter</vt:lpstr>
      <vt:lpstr>Martian Mono Medium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Bheeshma Shanker</cp:lastModifiedBy>
  <cp:revision>2</cp:revision>
  <dcterms:created xsi:type="dcterms:W3CDTF">2026-10-27T15:53:23Z</dcterms:created>
  <dcterms:modified xsi:type="dcterms:W3CDTF">2026-10-27T16:00:00Z</dcterms:modified>
</cp:coreProperties>
</file>